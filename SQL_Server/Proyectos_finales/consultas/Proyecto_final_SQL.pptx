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6"/>
  </p:notesMasterIdLst>
  <p:sldIdLst>
    <p:sldId id="256" r:id="rId2"/>
    <p:sldId id="257" r:id="rId3"/>
    <p:sldId id="260" r:id="rId4"/>
    <p:sldId id="294" r:id="rId5"/>
    <p:sldId id="303" r:id="rId6"/>
    <p:sldId id="295" r:id="rId7"/>
    <p:sldId id="278" r:id="rId8"/>
    <p:sldId id="292" r:id="rId9"/>
    <p:sldId id="304" r:id="rId10"/>
    <p:sldId id="296" r:id="rId11"/>
    <p:sldId id="279" r:id="rId12"/>
    <p:sldId id="307" r:id="rId13"/>
    <p:sldId id="306" r:id="rId14"/>
    <p:sldId id="297" r:id="rId15"/>
    <p:sldId id="308" r:id="rId16"/>
    <p:sldId id="309" r:id="rId17"/>
    <p:sldId id="310" r:id="rId18"/>
    <p:sldId id="298" r:id="rId19"/>
    <p:sldId id="311" r:id="rId20"/>
    <p:sldId id="299" r:id="rId21"/>
    <p:sldId id="312" r:id="rId22"/>
    <p:sldId id="300" r:id="rId23"/>
    <p:sldId id="313" r:id="rId24"/>
    <p:sldId id="29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6"/>
    <a:srgbClr val="F4F2F2"/>
    <a:srgbClr val="F7F7F7"/>
    <a:srgbClr val="FBFBFB"/>
    <a:srgbClr val="243F76"/>
    <a:srgbClr val="F1EEEE"/>
    <a:srgbClr val="31569F"/>
    <a:srgbClr val="E3ECFB"/>
    <a:srgbClr val="121026"/>
    <a:srgbClr val="DE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84587" autoAdjust="0"/>
  </p:normalViewPr>
  <p:slideViewPr>
    <p:cSldViewPr snapToGrid="0">
      <p:cViewPr>
        <p:scale>
          <a:sx n="75" d="100"/>
          <a:sy n="75" d="100"/>
        </p:scale>
        <p:origin x="8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945CC-D8B8-40EA-9ED2-5045310B7DDB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9181E-F975-4AD6-9FA1-75D48DD551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8665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C9181E-F975-4AD6-9FA1-75D48DD55146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710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9376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022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784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1978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687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7845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88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202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9419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6459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2150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0FFD0-94D0-477F-B65A-28E0326A02A2}" type="datetimeFigureOut">
              <a:rPr lang="es-AR" smtClean="0"/>
              <a:t>29/10/2026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0AD12-038F-4B95-9189-5CB3C591840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10037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778" b="90000" l="6931" r="92574">
                        <a14:foregroundMark x1="36139" y1="35556" x2="36139" y2="35556"/>
                        <a14:foregroundMark x1="37129" y1="27778" x2="37129" y2="27778"/>
                        <a14:foregroundMark x1="42574" y1="26667" x2="42574" y2="26667"/>
                        <a14:foregroundMark x1="43564" y1="35556" x2="43564" y2="35556"/>
                        <a14:foregroundMark x1="44554" y1="43333" x2="44554" y2="43333"/>
                        <a14:foregroundMark x1="39604" y1="50000" x2="39604" y2="50000"/>
                        <a14:foregroundMark x1="50495" y1="46667" x2="50495" y2="46667"/>
                        <a14:foregroundMark x1="48020" y1="26667" x2="48020" y2="26667"/>
                        <a14:foregroundMark x1="48515" y1="36667" x2="49505" y2="36667"/>
                        <a14:foregroundMark x1="54455" y1="48889" x2="54455" y2="48889"/>
                        <a14:foregroundMark x1="59901" y1="43333" x2="59901" y2="43333"/>
                        <a14:foregroundMark x1="67822" y1="36667" x2="67822" y2="36667"/>
                        <a14:foregroundMark x1="58911" y1="30000" x2="58911" y2="30000"/>
                        <a14:foregroundMark x1="66337" y1="48889" x2="66337" y2="48889"/>
                        <a14:foregroundMark x1="73267" y1="30000" x2="73267" y2="30000"/>
                        <a14:foregroundMark x1="79208" y1="25556" x2="79208" y2="25556"/>
                        <a14:foregroundMark x1="78713" y1="42222" x2="78713" y2="42222"/>
                        <a14:foregroundMark x1="79703" y1="35556" x2="79703" y2="35556"/>
                        <a14:foregroundMark x1="79703" y1="45556" x2="79703" y2="45556"/>
                        <a14:foregroundMark x1="72772" y1="44444" x2="72772" y2="44444"/>
                        <a14:foregroundMark x1="50495" y1="46667" x2="50495" y2="46667"/>
                        <a14:foregroundMark x1="50495" y1="45556" x2="50495" y2="45556"/>
                        <a14:foregroundMark x1="50990" y1="46667" x2="50990" y2="46667"/>
                        <a14:foregroundMark x1="35644" y1="61111" x2="35644" y2="61111"/>
                        <a14:foregroundMark x1="36139" y1="65556" x2="36139" y2="65556"/>
                        <a14:foregroundMark x1="40594" y1="64444" x2="40594" y2="64444"/>
                        <a14:foregroundMark x1="46040" y1="62222" x2="46040" y2="62222"/>
                        <a14:foregroundMark x1="48515" y1="61111" x2="48515" y2="61111"/>
                        <a14:foregroundMark x1="51485" y1="61111" x2="51485" y2="61111"/>
                        <a14:foregroundMark x1="53465" y1="64444" x2="53465" y2="64444"/>
                        <a14:foregroundMark x1="52970" y1="58889" x2="52970" y2="58889"/>
                        <a14:foregroundMark x1="56436" y1="64444" x2="56436" y2="64444"/>
                        <a14:foregroundMark x1="58911" y1="63333" x2="58911" y2="63333"/>
                        <a14:foregroundMark x1="56436" y1="58889" x2="56436" y2="58889"/>
                        <a14:foregroundMark x1="61881" y1="61111" x2="61881" y2="61111"/>
                        <a14:foregroundMark x1="63366" y1="64444" x2="63366" y2="64444"/>
                        <a14:foregroundMark x1="66832" y1="61111" x2="66832" y2="61111"/>
                        <a14:foregroundMark x1="71287" y1="62222" x2="71287" y2="62222"/>
                        <a14:foregroundMark x1="74257" y1="61111" x2="74257" y2="61111"/>
                        <a14:foregroundMark x1="76733" y1="63333" x2="76733" y2="63333"/>
                        <a14:foregroundMark x1="80198" y1="62222" x2="80198" y2="62222"/>
                        <a14:foregroundMark x1="82178" y1="62222" x2="82178" y2="62222"/>
                        <a14:foregroundMark x1="67327" y1="26667" x2="67327" y2="2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1824" y="5180519"/>
            <a:ext cx="1924050" cy="85725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177396" y="1974015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AR" sz="3200" b="1" dirty="0" smtClean="0">
                <a:solidFill>
                  <a:srgbClr val="243F76"/>
                </a:solidFill>
              </a:rPr>
              <a:t>Proyecto Final </a:t>
            </a:r>
          </a:p>
          <a:p>
            <a:pPr algn="ctr"/>
            <a:r>
              <a:rPr lang="es-AR" sz="3200" b="1" dirty="0" smtClean="0">
                <a:solidFill>
                  <a:srgbClr val="243F76"/>
                </a:solidFill>
              </a:rPr>
              <a:t>Modulo SQL</a:t>
            </a:r>
            <a:endParaRPr lang="es-AR" sz="3200" b="1" dirty="0">
              <a:solidFill>
                <a:srgbClr val="243F76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3245849" y="3045066"/>
            <a:ext cx="6096000" cy="4770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AR" sz="2500" b="1" dirty="0" smtClean="0">
                <a:solidFill>
                  <a:srgbClr val="243F76"/>
                </a:solidFill>
              </a:rPr>
              <a:t>Grupo 5</a:t>
            </a:r>
            <a:endParaRPr lang="es-AR" sz="2500" b="1" dirty="0">
              <a:solidFill>
                <a:srgbClr val="243F76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2296385" y="4487255"/>
            <a:ext cx="7994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 smtClean="0">
                <a:solidFill>
                  <a:srgbClr val="243F76"/>
                </a:solidFill>
              </a:rPr>
              <a:t>Integrantes</a:t>
            </a:r>
            <a:r>
              <a:rPr lang="es-AR" dirty="0" smtClean="0">
                <a:solidFill>
                  <a:srgbClr val="243F76"/>
                </a:solidFill>
              </a:rPr>
              <a:t>: </a:t>
            </a:r>
            <a:r>
              <a:rPr lang="es-AR" dirty="0" err="1" smtClean="0">
                <a:solidFill>
                  <a:srgbClr val="243F76"/>
                </a:solidFill>
              </a:rPr>
              <a:t>Frankli</a:t>
            </a:r>
            <a:r>
              <a:rPr lang="es-AR" dirty="0" smtClean="0">
                <a:solidFill>
                  <a:srgbClr val="243F76"/>
                </a:solidFill>
              </a:rPr>
              <a:t> </a:t>
            </a:r>
            <a:r>
              <a:rPr lang="es-AR" dirty="0" err="1" smtClean="0">
                <a:solidFill>
                  <a:srgbClr val="243F76"/>
                </a:solidFill>
              </a:rPr>
              <a:t>Zeña</a:t>
            </a:r>
            <a:r>
              <a:rPr lang="es-AR" dirty="0" smtClean="0">
                <a:solidFill>
                  <a:srgbClr val="243F76"/>
                </a:solidFill>
              </a:rPr>
              <a:t>, </a:t>
            </a:r>
            <a:r>
              <a:rPr lang="es-AR" dirty="0" err="1" smtClean="0">
                <a:solidFill>
                  <a:srgbClr val="243F76"/>
                </a:solidFill>
              </a:rPr>
              <a:t>Engelberth</a:t>
            </a:r>
            <a:r>
              <a:rPr lang="es-AR" dirty="0" smtClean="0">
                <a:solidFill>
                  <a:srgbClr val="243F76"/>
                </a:solidFill>
              </a:rPr>
              <a:t> Mazariegos, David </a:t>
            </a:r>
            <a:r>
              <a:rPr lang="es-AR" dirty="0" err="1" smtClean="0">
                <a:solidFill>
                  <a:srgbClr val="243F76"/>
                </a:solidFill>
              </a:rPr>
              <a:t>Ramirez</a:t>
            </a:r>
            <a:r>
              <a:rPr lang="es-AR" dirty="0" smtClean="0">
                <a:solidFill>
                  <a:srgbClr val="243F76"/>
                </a:solidFill>
              </a:rPr>
              <a:t>, Josefina Urquiza</a:t>
            </a:r>
            <a:endParaRPr lang="es-AR" dirty="0">
              <a:solidFill>
                <a:srgbClr val="243F76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2669230" y="949707"/>
            <a:ext cx="7112332" cy="6309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3500" b="1" dirty="0">
                <a:solidFill>
                  <a:srgbClr val="243F76"/>
                </a:solidFill>
              </a:rPr>
              <a:t>Grupo de </a:t>
            </a:r>
            <a:r>
              <a:rPr lang="pt-BR" sz="3500" b="1" dirty="0" err="1" smtClean="0">
                <a:solidFill>
                  <a:srgbClr val="243F76"/>
                </a:solidFill>
              </a:rPr>
              <a:t>estudio</a:t>
            </a:r>
            <a:r>
              <a:rPr lang="pt-BR" sz="3500" b="1" dirty="0" smtClean="0">
                <a:solidFill>
                  <a:srgbClr val="243F76"/>
                </a:solidFill>
              </a:rPr>
              <a:t> </a:t>
            </a:r>
            <a:r>
              <a:rPr lang="pt-BR" sz="3500" b="1" dirty="0">
                <a:solidFill>
                  <a:srgbClr val="243F76"/>
                </a:solidFill>
              </a:rPr>
              <a:t>– Data </a:t>
            </a:r>
            <a:r>
              <a:rPr lang="pt-BR" sz="3500" b="1" dirty="0" err="1">
                <a:solidFill>
                  <a:srgbClr val="243F76"/>
                </a:solidFill>
              </a:rPr>
              <a:t>Analyst</a:t>
            </a:r>
            <a:r>
              <a:rPr lang="pt-BR" sz="3500" b="1" dirty="0">
                <a:solidFill>
                  <a:srgbClr val="243F76"/>
                </a:solidFill>
              </a:rPr>
              <a:t> 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30" name="Grupo 29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31" name="Rectángulo 30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32" name="Rectángulo 31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33" name="Rectángulo 32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3" name="Rectángulo 12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109928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redondeado 25"/>
          <p:cNvSpPr/>
          <p:nvPr/>
        </p:nvSpPr>
        <p:spPr>
          <a:xfrm>
            <a:off x="1675713" y="3217450"/>
            <a:ext cx="8868793" cy="2010158"/>
          </a:xfrm>
          <a:prstGeom prst="roundRect">
            <a:avLst>
              <a:gd name="adj" fmla="val 3516"/>
            </a:avLst>
          </a:prstGeom>
          <a:solidFill>
            <a:srgbClr val="E3ECF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24" name="Rectángulo redondeado 23"/>
          <p:cNvSpPr/>
          <p:nvPr/>
        </p:nvSpPr>
        <p:spPr>
          <a:xfrm>
            <a:off x="1675713" y="1508718"/>
            <a:ext cx="8868793" cy="1517001"/>
          </a:xfrm>
          <a:prstGeom prst="roundRect">
            <a:avLst>
              <a:gd name="adj" fmla="val 3516"/>
            </a:avLst>
          </a:prstGeom>
          <a:solidFill>
            <a:srgbClr val="E3ECF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49762" y="2036172"/>
            <a:ext cx="8255479" cy="96213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30000"/>
              </a:lnSpc>
              <a:spcBef>
                <a:spcPts val="1500"/>
              </a:spcBef>
              <a:buNone/>
            </a:pP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Desarrollar un caso de negocio que permita aplicar los conocimientos de SQL adquiridos durante las sesiones, mediante la limpieza, validación, transformación y análisis de datos, con la finalidad de construir un modelo dimensional tipo estrella que facilite el análisis de información y la toma de decisiones empresariales.</a:t>
            </a:r>
            <a:endParaRPr lang="es-AR" sz="1300" dirty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1827095" y="3677704"/>
            <a:ext cx="8477715" cy="1461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Los equipos estarán conformados por 3 integrantes.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Cada equipo deberá seleccionar una fuente de datos de 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Kaggle u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otra fuente confiable.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A partir de los datos seleccionados, deberán identificar una problemática o necesidad de negocio que pueda resolverse mediante el análisis de datos.</a:t>
            </a:r>
          </a:p>
          <a:p>
            <a:pPr algn="just">
              <a:lnSpc>
                <a:spcPct val="100000"/>
              </a:lnSpc>
              <a:spcBef>
                <a:spcPts val="900"/>
              </a:spcBef>
            </a:pP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Todos los integrantes deberán participar en el desarrollo del proyecto y en la exposición final.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375672" cy="54178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325" y="5110110"/>
            <a:ext cx="1013874" cy="904238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6" name="Grupo 15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8" name="Rectángulo 17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9" name="Rectángulo 18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20" name="Rectángulo 19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7" name="Rectángulo 16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1" name="Título 1"/>
          <p:cNvSpPr txBox="1">
            <a:spLocks/>
          </p:cNvSpPr>
          <p:nvPr/>
        </p:nvSpPr>
        <p:spPr>
          <a:xfrm>
            <a:off x="1675715" y="1508718"/>
            <a:ext cx="8868792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Objetivo </a:t>
            </a:r>
            <a:r>
              <a:rPr lang="es-A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del proyecto</a:t>
            </a:r>
          </a:p>
        </p:txBody>
      </p:sp>
      <p:sp>
        <p:nvSpPr>
          <p:cNvPr id="22" name="Rectángulo 21"/>
          <p:cNvSpPr/>
          <p:nvPr/>
        </p:nvSpPr>
        <p:spPr>
          <a:xfrm>
            <a:off x="1675713" y="732212"/>
            <a:ext cx="8868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3200" b="1" dirty="0" smtClean="0">
                <a:solidFill>
                  <a:srgbClr val="243F76"/>
                </a:solidFill>
              </a:rPr>
              <a:t>Proyecto Final: Modulo SQL</a:t>
            </a:r>
            <a:endParaRPr lang="es-AR" sz="3200" b="1" dirty="0">
              <a:solidFill>
                <a:srgbClr val="243F76"/>
              </a:solidFill>
            </a:endParaRPr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1675713" y="3176217"/>
            <a:ext cx="8868794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Organización de los equipos</a:t>
            </a:r>
          </a:p>
        </p:txBody>
      </p:sp>
    </p:spTree>
    <p:extLst>
      <p:ext uri="{BB962C8B-B14F-4D97-AF65-F5344CB8AC3E}">
        <p14:creationId xmlns:p14="http://schemas.microsoft.com/office/powerpoint/2010/main" val="135443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4255" y="450903"/>
            <a:ext cx="10756739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Dosis"/>
              </a:rPr>
              <a:t>Desarrollo del </a:t>
            </a: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Source Sans Pro"/>
              </a:rPr>
              <a:t>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44255" y="1188664"/>
            <a:ext cx="8907684" cy="339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400" i="1" dirty="0">
                <a:solidFill>
                  <a:schemeClr val="bg2">
                    <a:lumMod val="25000"/>
                  </a:schemeClr>
                </a:solidFill>
                <a:latin typeface="Source Sans Pro" panose="020B0604020202020204" charset="0"/>
                <a:ea typeface="Source Sans Pro"/>
                <a:cs typeface="PT Serif" panose="020B0604020202020204" charset="0"/>
                <a:sym typeface="Dosis"/>
              </a:rPr>
              <a:t>Cada equipo deberá desarrollar un caso de negocio que contemple los siguientes aspectos</a:t>
            </a:r>
            <a:r>
              <a:rPr lang="es-MX" sz="1400" dirty="0" smtClean="0"/>
              <a:t>:</a:t>
            </a:r>
            <a:endParaRPr lang="es-AR" sz="1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27" name="Grupo 26"/>
          <p:cNvGrpSpPr/>
          <p:nvPr/>
        </p:nvGrpSpPr>
        <p:grpSpPr>
          <a:xfrm>
            <a:off x="1978655" y="1799163"/>
            <a:ext cx="7859211" cy="3647772"/>
            <a:chOff x="1835502" y="1314745"/>
            <a:chExt cx="8616437" cy="3647772"/>
          </a:xfrm>
        </p:grpSpPr>
        <p:sp>
          <p:nvSpPr>
            <p:cNvPr id="5" name="Marcador de contenido 2"/>
            <p:cNvSpPr txBox="1">
              <a:spLocks/>
            </p:cNvSpPr>
            <p:nvPr/>
          </p:nvSpPr>
          <p:spPr>
            <a:xfrm>
              <a:off x="1962873" y="1422341"/>
              <a:ext cx="8489066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Planteamiento del caso de negocio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identificar una problemática empresarial, describir el contexto y definir qué se busca analizar o resolver.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Selección de la fuente de datos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obtener un conjunto de datos pertinente para el caso elegido, documentando su procedencia.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Limpieza y validación de datos: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identificar y tratar valores nulos, registros duplicados, inconsistencias y problemas en los tipos de datos, según corresponda.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Diseño del modelo dimensional: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construir un modelo tipo estrella, definiendo la tabla de hechos, sus dimensiones, las claves y las relaciones entre ellas.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Transformación y análisis con SQL: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desarrollar consultas que permitan preparar los datos, relacionar tablas y generar información útil para el negocio.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AR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Cálculos e indicadores</a:t>
              </a:r>
              <a:r>
                <a:rPr lang="es-AR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implementar las métricas necesarias para responder las preguntas del negocio, tales como montos, cantidades, promedios, porcentajes u otros indicadores relevantes.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Justificación de la solución: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explicar por qué se eligió ese modelo, cómo se desarrolló y de qué manera contribuye a resolver la problemática identificada.</a:t>
              </a:r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1835502" y="1314745"/>
              <a:ext cx="8616437" cy="3647771"/>
            </a:xfrm>
            <a:prstGeom prst="roundRect">
              <a:avLst>
                <a:gd name="adj" fmla="val 2115"/>
              </a:avLst>
            </a:prstGeom>
            <a:noFill/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</p:grpSp>
      <p:sp>
        <p:nvSpPr>
          <p:cNvPr id="28" name="Shape 3"/>
          <p:cNvSpPr/>
          <p:nvPr/>
        </p:nvSpPr>
        <p:spPr>
          <a:xfrm>
            <a:off x="1978655" y="1799163"/>
            <a:ext cx="58706" cy="3647772"/>
          </a:xfrm>
          <a:prstGeom prst="roundRect">
            <a:avLst>
              <a:gd name="adj" fmla="val 93767"/>
            </a:avLst>
          </a:prstGeom>
          <a:solidFill>
            <a:srgbClr val="31569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359738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4255" y="450903"/>
            <a:ext cx="10756739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Dosis"/>
              </a:rPr>
              <a:t>Desarrollo del </a:t>
            </a: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Source Sans Pro"/>
              </a:rPr>
              <a:t>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44255" y="1188664"/>
            <a:ext cx="8907684" cy="339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300" i="1" dirty="0">
                <a:solidFill>
                  <a:schemeClr val="bg2">
                    <a:lumMod val="50000"/>
                  </a:schemeClr>
                </a:solidFill>
                <a:latin typeface="Source Sans Pro" panose="020B0604020202020204" charset="0"/>
                <a:ea typeface="Source Sans Pro"/>
                <a:cs typeface="PT Serif" panose="020B0604020202020204" charset="0"/>
                <a:sym typeface="Dosis"/>
              </a:rPr>
              <a:t>Cada equipo deberá desarrollar un caso de negocio que contemple los siguientes aspectos</a:t>
            </a:r>
            <a:r>
              <a:rPr lang="es-MX" sz="1300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lang="es-AR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27" name="Grupo 26"/>
          <p:cNvGrpSpPr/>
          <p:nvPr/>
        </p:nvGrpSpPr>
        <p:grpSpPr>
          <a:xfrm>
            <a:off x="1978655" y="1799163"/>
            <a:ext cx="7859211" cy="3647772"/>
            <a:chOff x="1835502" y="1314745"/>
            <a:chExt cx="8616437" cy="3647772"/>
          </a:xfrm>
        </p:grpSpPr>
        <p:sp>
          <p:nvSpPr>
            <p:cNvPr id="5" name="Marcador de contenido 2"/>
            <p:cNvSpPr txBox="1">
              <a:spLocks/>
            </p:cNvSpPr>
            <p:nvPr/>
          </p:nvSpPr>
          <p:spPr>
            <a:xfrm>
              <a:off x="1962873" y="1422341"/>
              <a:ext cx="8489066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Planteamiento del caso de negocio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identificar una problemática empresarial, describir el contexto y definir qué se busca analizar o resolver.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Selección de la fuente de datos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obtener un conjunto de datos pertinente para el caso elegido, documentando su procedencia.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Limpieza y validación de datos: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identificar y tratar valores nulos, registros duplicados, inconsistencias y problemas en los tipos de datos, según corresponda.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Diseño del modelo dimensional: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construir un modelo tipo estrella, definiendo la tabla de hechos, sus dimensiones, las claves y las relaciones entre ellas.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Transformación y análisis con SQL: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desarrollar consultas que permitan preparar los datos, relacionar tablas y generar información útil para el negocio.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AR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Cálculos e indicadores</a:t>
              </a:r>
              <a:r>
                <a:rPr lang="es-AR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implementar las métricas necesarias para responder las preguntas del negocio, tales como montos, cantidades, promedios, porcentajes u otros indicadores relevantes.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Justificación de la solución: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explicar por qué se eligió ese modelo, cómo se desarrolló y de qué manera contribuye a resolver la problemática identificada.</a:t>
              </a:r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1835502" y="1314745"/>
              <a:ext cx="8616437" cy="3647771"/>
            </a:xfrm>
            <a:prstGeom prst="roundRect">
              <a:avLst>
                <a:gd name="adj" fmla="val 2115"/>
              </a:avLst>
            </a:prstGeom>
            <a:noFill/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</p:grpSp>
      <p:sp>
        <p:nvSpPr>
          <p:cNvPr id="28" name="Shape 3"/>
          <p:cNvSpPr/>
          <p:nvPr/>
        </p:nvSpPr>
        <p:spPr>
          <a:xfrm>
            <a:off x="1978655" y="1799163"/>
            <a:ext cx="58706" cy="3647772"/>
          </a:xfrm>
          <a:prstGeom prst="roundRect">
            <a:avLst>
              <a:gd name="adj" fmla="val 93767"/>
            </a:avLst>
          </a:prstGeom>
          <a:solidFill>
            <a:srgbClr val="31569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9" name="Rectángulo 18"/>
          <p:cNvSpPr/>
          <p:nvPr/>
        </p:nvSpPr>
        <p:spPr>
          <a:xfrm>
            <a:off x="2118598" y="1853093"/>
            <a:ext cx="7580987" cy="545050"/>
          </a:xfrm>
          <a:prstGeom prst="rect">
            <a:avLst/>
          </a:prstGeom>
          <a:solidFill>
            <a:srgbClr val="31569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820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1" name="Título 1"/>
          <p:cNvSpPr txBox="1">
            <a:spLocks/>
          </p:cNvSpPr>
          <p:nvPr/>
        </p:nvSpPr>
        <p:spPr>
          <a:xfrm>
            <a:off x="1596013" y="156560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1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. Planteamiento del caso de negocio</a:t>
            </a:r>
            <a:r>
              <a:rPr lang="es-AR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 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23" name="Marcador de contenido 2"/>
          <p:cNvSpPr>
            <a:spLocks noGrp="1"/>
          </p:cNvSpPr>
          <p:nvPr>
            <p:ph idx="1"/>
          </p:nvPr>
        </p:nvSpPr>
        <p:spPr>
          <a:xfrm>
            <a:off x="660399" y="1724597"/>
            <a:ext cx="6070120" cy="368504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r>
              <a:rPr lang="es-MX" sz="1300" b="1" dirty="0" err="1" smtClean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</a:rPr>
              <a:t>Dataset</a:t>
            </a:r>
            <a:endParaRPr lang="es-MX" sz="1300" b="1" dirty="0">
              <a:solidFill>
                <a:srgbClr val="31569F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Entidad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financiera que 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opera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transacciones en distintos países, mediante 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distintos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canales, 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 dispositivos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y categorías de comercio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.</a:t>
            </a: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A medida que crece su actividad, 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se necesita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organizar la información 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transaccional para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entender mejor cómo se comporta el uso de sus servicios y cómo priorizar operaciones que ameritan una revisión adicional.</a:t>
            </a:r>
            <a:endParaRPr lang="es-MX" sz="1300" dirty="0" smtClean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endParaRPr lang="es-MX" sz="1300" dirty="0" smtClean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r>
              <a:rPr lang="es-MX" sz="1300" b="1" dirty="0" smtClean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</a:rPr>
              <a:t>Problemática:</a:t>
            </a:r>
            <a:endParaRPr lang="es-MX" sz="1300" b="1" dirty="0">
              <a:solidFill>
                <a:srgbClr val="31569F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Carece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de una 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vista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integrada que permita analizar el comportamiento transaccional, comparar segmentos e interpretar las señales asociadas a las operaciones etiquetadas como fraude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.</a:t>
            </a: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endParaRPr lang="es-MX" sz="1300" dirty="0" smtClean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r>
              <a:rPr lang="es-MX" sz="1300" b="1" dirty="0" smtClean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</a:rPr>
              <a:t>Objetivo </a:t>
            </a:r>
            <a:r>
              <a:rPr lang="es-MX" sz="1300" b="1" dirty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</a:rPr>
              <a:t>del análisis</a:t>
            </a:r>
            <a:endParaRPr lang="es-MX" sz="1300" b="1" dirty="0">
              <a:solidFill>
                <a:srgbClr val="31569F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Diseñar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e implementar un flujo SQL que limpie, valide y transforme los registros en un modelo estrella; calcular 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indicadores transaccionales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y comparar los patrones asociados a la etiqueta </a:t>
            </a:r>
            <a:r>
              <a:rPr lang="es-MX" sz="1300" i="1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`</a:t>
            </a:r>
            <a:r>
              <a:rPr lang="es-MX" sz="1300" i="1" dirty="0" err="1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is_fraud</a:t>
            </a:r>
            <a:r>
              <a:rPr lang="es-MX" sz="1300" i="1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`;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y presentar hallazgos que orienten la priorización </a:t>
            </a:r>
            <a:r>
              <a: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analítica </a:t>
            </a:r>
            <a:r>
              <a: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en el escenario ficticio planteado.</a:t>
            </a:r>
            <a:endParaRPr lang="es-MX" sz="1300" dirty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endParaRPr lang="es-MX" sz="1300" dirty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endParaRPr lang="es-MX" sz="1300" b="1" dirty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 algn="just">
              <a:lnSpc>
                <a:spcPct val="130000"/>
              </a:lnSpc>
              <a:spcBef>
                <a:spcPts val="500"/>
              </a:spcBef>
              <a:buNone/>
            </a:pPr>
            <a:endParaRPr lang="es-AR" sz="1300" dirty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24" name="Título 1"/>
          <p:cNvSpPr txBox="1">
            <a:spLocks/>
          </p:cNvSpPr>
          <p:nvPr/>
        </p:nvSpPr>
        <p:spPr>
          <a:xfrm>
            <a:off x="660399" y="1162946"/>
            <a:ext cx="6239579" cy="561277"/>
          </a:xfrm>
          <a:prstGeom prst="roundRect">
            <a:avLst>
              <a:gd name="adj" fmla="val 5806"/>
            </a:avLst>
          </a:prstGeom>
          <a:noFill/>
          <a:ln w="317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1600" b="1" dirty="0" err="1" smtClean="0">
                <a:solidFill>
                  <a:srgbClr val="121026"/>
                </a:solidFill>
                <a:latin typeface="Dosis"/>
                <a:ea typeface="Dosis"/>
                <a:cs typeface="Dosis"/>
                <a:sym typeface="Source Sans Pro"/>
              </a:rPr>
              <a:t>Dataset</a:t>
            </a:r>
            <a:r>
              <a:rPr lang="es-AR" sz="1600" b="1" dirty="0" smtClean="0">
                <a:solidFill>
                  <a:srgbClr val="121026"/>
                </a:solidFill>
                <a:latin typeface="Dosis"/>
                <a:ea typeface="Dosis"/>
                <a:cs typeface="Dosis"/>
                <a:sym typeface="Source Sans Pro"/>
              </a:rPr>
              <a:t>: </a:t>
            </a:r>
            <a:r>
              <a:rPr lang="es-AR" sz="1600" b="1" dirty="0" err="1" smtClean="0">
                <a:solidFill>
                  <a:srgbClr val="121026"/>
                </a:solidFill>
                <a:latin typeface="Dosis"/>
                <a:ea typeface="Dosis"/>
                <a:cs typeface="Dosis"/>
                <a:sym typeface="Source Sans Pro"/>
              </a:rPr>
              <a:t>Aethel</a:t>
            </a:r>
            <a:r>
              <a:rPr lang="es-AR" sz="1600" b="1" dirty="0" smtClean="0">
                <a:solidFill>
                  <a:srgbClr val="121026"/>
                </a:solidFill>
                <a:latin typeface="Dosis"/>
                <a:ea typeface="Dosis"/>
                <a:cs typeface="Dosis"/>
                <a:sym typeface="Source Sans Pro"/>
              </a:rPr>
              <a:t> </a:t>
            </a:r>
            <a:r>
              <a:rPr lang="es-AR" sz="1600" b="1" dirty="0">
                <a:solidFill>
                  <a:srgbClr val="121026"/>
                </a:solidFill>
                <a:latin typeface="Dosis"/>
                <a:ea typeface="Dosis"/>
                <a:cs typeface="Dosis"/>
                <a:sym typeface="Source Sans Pro"/>
              </a:rPr>
              <a:t>Capital </a:t>
            </a:r>
            <a:r>
              <a:rPr lang="es-AR" sz="1600" b="1" dirty="0" smtClean="0">
                <a:solidFill>
                  <a:srgbClr val="121026"/>
                </a:solidFill>
                <a:latin typeface="Dosis"/>
                <a:ea typeface="Dosis"/>
                <a:cs typeface="Dosis"/>
                <a:sym typeface="Source Sans Pro"/>
              </a:rPr>
              <a:t>Bank</a:t>
            </a:r>
            <a:endParaRPr lang="es-AR" sz="1600" b="1" dirty="0">
              <a:solidFill>
                <a:srgbClr val="121026"/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600717" y="1344134"/>
            <a:ext cx="43200" cy="3924000"/>
          </a:xfrm>
          <a:prstGeom prst="roundRect">
            <a:avLst>
              <a:gd name="adj" fmla="val 93767"/>
            </a:avLst>
          </a:prstGeom>
          <a:solidFill>
            <a:srgbClr val="31569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pSp>
        <p:nvGrpSpPr>
          <p:cNvPr id="3" name="Grupo 2"/>
          <p:cNvGrpSpPr/>
          <p:nvPr/>
        </p:nvGrpSpPr>
        <p:grpSpPr>
          <a:xfrm>
            <a:off x="7059859" y="1563694"/>
            <a:ext cx="5010221" cy="3627120"/>
            <a:chOff x="7070019" y="1554480"/>
            <a:chExt cx="5010221" cy="3627120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9658" y="1954221"/>
              <a:ext cx="4615384" cy="2761491"/>
            </a:xfrm>
            <a:prstGeom prst="rect">
              <a:avLst/>
            </a:prstGeom>
            <a:ln w="3175">
              <a:solidFill>
                <a:schemeClr val="bg2">
                  <a:lumMod val="50000"/>
                </a:schemeClr>
              </a:solidFill>
            </a:ln>
            <a:effectLst>
              <a:softEdge rad="12700"/>
            </a:effectLst>
          </p:spPr>
        </p:pic>
        <p:sp>
          <p:nvSpPr>
            <p:cNvPr id="8" name="Rectángulo 7"/>
            <p:cNvSpPr/>
            <p:nvPr/>
          </p:nvSpPr>
          <p:spPr>
            <a:xfrm>
              <a:off x="7105580" y="4758796"/>
              <a:ext cx="490354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AR" sz="900" b="1" i="1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Fuente de datos</a:t>
              </a:r>
              <a:r>
                <a:rPr lang="es-AR" sz="900" i="1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: </a:t>
              </a:r>
              <a:r>
                <a:rPr lang="es-AR" sz="900" i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https://www.kaggle.com/datasets/nafiulislam490/bank-transaction-fraud-detection-dataset</a:t>
              </a:r>
            </a:p>
          </p:txBody>
        </p:sp>
        <p:sp>
          <p:nvSpPr>
            <p:cNvPr id="20" name="Rectángulo redondeado 19"/>
            <p:cNvSpPr/>
            <p:nvPr/>
          </p:nvSpPr>
          <p:spPr>
            <a:xfrm>
              <a:off x="7105579" y="1554480"/>
              <a:ext cx="4974661" cy="3627120"/>
            </a:xfrm>
            <a:prstGeom prst="roundRect">
              <a:avLst>
                <a:gd name="adj" fmla="val 1798"/>
              </a:avLst>
            </a:prstGeom>
            <a:noFill/>
            <a:ln w="31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  <p:sp>
          <p:nvSpPr>
            <p:cNvPr id="26" name="Rectángulo 25"/>
            <p:cNvSpPr/>
            <p:nvPr/>
          </p:nvSpPr>
          <p:spPr>
            <a:xfrm>
              <a:off x="7070019" y="1645505"/>
              <a:ext cx="4974661" cy="261610"/>
            </a:xfrm>
            <a:prstGeom prst="rect">
              <a:avLst/>
            </a:prstGeom>
            <a:noFill/>
            <a:ln w="22860">
              <a:noFill/>
              <a:prstDash val="solid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es-MX" sz="1100" b="1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Vista del </a:t>
              </a:r>
              <a:r>
                <a:rPr lang="es-MX" sz="1100" b="1" dirty="0" err="1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dataset</a:t>
              </a:r>
              <a:r>
                <a:rPr lang="es-MX" sz="1100" b="1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 en Kaggle</a:t>
              </a:r>
              <a:endParaRPr lang="es-MX" sz="1100" b="1" i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93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4255" y="450903"/>
            <a:ext cx="10756739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Dosis"/>
              </a:rPr>
              <a:t>Desarrollo del </a:t>
            </a: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Source Sans Pro"/>
              </a:rPr>
              <a:t>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44255" y="1188664"/>
            <a:ext cx="8907684" cy="339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300" i="1" dirty="0">
                <a:solidFill>
                  <a:schemeClr val="bg2">
                    <a:lumMod val="50000"/>
                  </a:schemeClr>
                </a:solidFill>
                <a:latin typeface="Source Sans Pro" panose="020B0604020202020204" charset="0"/>
                <a:ea typeface="Source Sans Pro"/>
                <a:cs typeface="PT Serif" panose="020B0604020202020204" charset="0"/>
                <a:sym typeface="Dosis"/>
              </a:rPr>
              <a:t>Cada equipo deberá desarrollar un caso de negocio que contemple los siguientes aspectos</a:t>
            </a:r>
            <a:r>
              <a:rPr lang="es-MX" sz="1300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lang="es-AR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27" name="Grupo 26"/>
          <p:cNvGrpSpPr/>
          <p:nvPr/>
        </p:nvGrpSpPr>
        <p:grpSpPr>
          <a:xfrm>
            <a:off x="1978655" y="1799163"/>
            <a:ext cx="7859211" cy="3647772"/>
            <a:chOff x="1835502" y="1314745"/>
            <a:chExt cx="8616437" cy="3647772"/>
          </a:xfrm>
        </p:grpSpPr>
        <p:sp>
          <p:nvSpPr>
            <p:cNvPr id="5" name="Marcador de contenido 2"/>
            <p:cNvSpPr txBox="1">
              <a:spLocks/>
            </p:cNvSpPr>
            <p:nvPr/>
          </p:nvSpPr>
          <p:spPr>
            <a:xfrm>
              <a:off x="1962873" y="1422341"/>
              <a:ext cx="8489066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Planteamiento del caso de negocio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identificar una problemática empresarial, describir el contexto y definir qué se busca analizar o resolver.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Selección de la fuente de datos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obtener un conjunto de datos pertinente para el caso elegido, documentando su procedencia.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Limpieza y validación de datos: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identificar y tratar valores nulos, registros duplicados, inconsistencias y problemas en los tipos de datos, según corresponda.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Diseño del modelo dimensional: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construir un modelo tipo estrella, definiendo la tabla de hechos, sus dimensiones, las claves y las relaciones entre ellas.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Transformación y análisis con SQL: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desarrollar consultas que permitan preparar los datos, relacionar tablas y generar información útil para el negocio.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AR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Cálculos e indicadores</a:t>
              </a:r>
              <a:r>
                <a:rPr lang="es-AR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implementar las métricas necesarias para responder las preguntas del negocio, tales como montos, cantidades, promedios, porcentajes u otros indicadores relevantes.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Justificación de la solución: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explicar por qué se eligió ese modelo, cómo se desarrolló y de qué manera contribuye a resolver la problemática identificada.</a:t>
              </a:r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1835502" y="1314745"/>
              <a:ext cx="8616437" cy="3647771"/>
            </a:xfrm>
            <a:prstGeom prst="roundRect">
              <a:avLst>
                <a:gd name="adj" fmla="val 2115"/>
              </a:avLst>
            </a:prstGeom>
            <a:noFill/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</p:grpSp>
      <p:sp>
        <p:nvSpPr>
          <p:cNvPr id="28" name="Shape 3"/>
          <p:cNvSpPr/>
          <p:nvPr/>
        </p:nvSpPr>
        <p:spPr>
          <a:xfrm>
            <a:off x="1978655" y="1799163"/>
            <a:ext cx="58706" cy="3647772"/>
          </a:xfrm>
          <a:prstGeom prst="roundRect">
            <a:avLst>
              <a:gd name="adj" fmla="val 93767"/>
            </a:avLst>
          </a:prstGeom>
          <a:solidFill>
            <a:srgbClr val="31569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9" name="Rectángulo 18"/>
          <p:cNvSpPr/>
          <p:nvPr/>
        </p:nvSpPr>
        <p:spPr>
          <a:xfrm>
            <a:off x="2094832" y="2301666"/>
            <a:ext cx="7580987" cy="545050"/>
          </a:xfrm>
          <a:prstGeom prst="rect">
            <a:avLst/>
          </a:prstGeom>
          <a:solidFill>
            <a:srgbClr val="31569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58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7921" y="249024"/>
            <a:ext cx="7013818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2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. Selección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de la fuente de datos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18" name="Grupo 17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20" name="Grupo 19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22" name="Rectángulo 21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3" name="Rectángulo 22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24" name="Rectángulo 23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21" name="Rectángulo 20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2760003" y="896567"/>
            <a:ext cx="6367238" cy="3276260"/>
            <a:chOff x="592194" y="1110140"/>
            <a:chExt cx="6367238" cy="3276260"/>
          </a:xfrm>
        </p:grpSpPr>
        <p:sp>
          <p:nvSpPr>
            <p:cNvPr id="15" name="Rectángulo 14"/>
            <p:cNvSpPr/>
            <p:nvPr/>
          </p:nvSpPr>
          <p:spPr>
            <a:xfrm>
              <a:off x="643917" y="1130871"/>
              <a:ext cx="6256062" cy="32239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1000"/>
                </a:spcBef>
                <a:spcAft>
                  <a:spcPts val="500"/>
                </a:spcAft>
              </a:pPr>
              <a:r>
                <a:rPr lang="es-AR" sz="2000" b="1" dirty="0" smtClean="0">
                  <a:solidFill>
                    <a:srgbClr val="31569F"/>
                  </a:solidFill>
                </a:rPr>
                <a:t>Características</a:t>
              </a:r>
              <a:r>
                <a:rPr lang="en-US" sz="2000" b="1" dirty="0" smtClean="0">
                  <a:solidFill>
                    <a:srgbClr val="31569F"/>
                  </a:solidFill>
                </a:rPr>
                <a:t> </a:t>
              </a:r>
              <a:r>
                <a:rPr lang="en-US" sz="2000" b="1" dirty="0">
                  <a:solidFill>
                    <a:srgbClr val="31569F"/>
                  </a:solidFill>
                </a:rPr>
                <a:t>del dataset </a:t>
              </a:r>
              <a:r>
                <a:rPr lang="es-AR" sz="2000" b="1" dirty="0" smtClean="0">
                  <a:solidFill>
                    <a:srgbClr val="31569F"/>
                  </a:solidFill>
                </a:rPr>
                <a:t>seleccionado</a:t>
              </a:r>
              <a:endParaRPr lang="es-AR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endParaRPr>
            </a:p>
            <a:p>
              <a:pPr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</a:pPr>
              <a:r>
                <a:rPr lang="es-AR" sz="1300" b="1" dirty="0" smtClean="0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Nombre</a:t>
              </a:r>
              <a:r>
                <a:rPr lang="en-US" sz="1300" b="1" dirty="0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: </a:t>
              </a:r>
              <a:r>
                <a:rPr lang="en-US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Bank </a:t>
              </a:r>
              <a:r>
                <a:rPr lang="en-US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Transaction Fraud Detection Dataset</a:t>
              </a:r>
              <a:endParaRPr lang="en-US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endParaRPr>
            </a:p>
            <a:p>
              <a:pPr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</a:pPr>
              <a:r>
                <a:rPr lang="es-AR" sz="1300" b="1" dirty="0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Descripción</a:t>
              </a:r>
              <a:r>
                <a:rPr lang="en-US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: </a:t>
              </a:r>
              <a:r>
                <a:rPr lang="es-MX" sz="1300" dirty="0" err="1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Dataset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 que contiene información sobre transacciones bancarias, incluyendo importes, fechas, cuentas,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canales,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método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y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de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pago, tipo de dispositivo, actividad internacional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, ubicaciones,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distancia respecto del hogar registrado, intentos fallidos y cambios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recientes de PIN, entre otras</a:t>
              </a:r>
            </a:p>
            <a:p>
              <a:pPr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</a:pPr>
              <a:r>
                <a:rPr lang="es-MX" sz="1300" b="1" dirty="0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Cantidad de t</a:t>
              </a:r>
              <a:r>
                <a:rPr lang="es-AR" sz="1300" b="1" dirty="0" err="1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ablas</a:t>
              </a:r>
              <a:r>
                <a:rPr lang="en-US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: 1</a:t>
              </a:r>
            </a:p>
            <a:p>
              <a:pPr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</a:pPr>
              <a:r>
                <a:rPr lang="es-MX" sz="1300" b="1" dirty="0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Formato: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archivo CSV</a:t>
              </a:r>
            </a:p>
            <a:p>
              <a:pPr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</a:pPr>
              <a:r>
                <a:rPr lang="es-MX" sz="1300" b="1" dirty="0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Registros: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1.000.000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transacciones</a:t>
              </a:r>
            </a:p>
            <a:p>
              <a:pPr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</a:pPr>
              <a:r>
                <a:rPr lang="es-MX" sz="1300" b="1" dirty="0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Cantidad de variables</a:t>
              </a:r>
              <a:r>
                <a:rPr lang="es-MX" sz="1300" b="1" dirty="0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: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26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columnas</a:t>
              </a:r>
            </a:p>
            <a:p>
              <a:pPr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</a:pPr>
              <a:r>
                <a:rPr lang="es-AR" sz="1300" b="1" dirty="0">
                  <a:solidFill>
                    <a:schemeClr val="tx2">
                      <a:lumMod val="7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Fuente: </a:t>
              </a:r>
              <a:r>
                <a:rPr lang="es-AR" sz="1300" dirty="0" err="1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Kaggle</a:t>
              </a:r>
              <a:r>
                <a:rPr lang="en-US" sz="1300" b="1" dirty="0" smtClean="0">
                  <a:solidFill>
                    <a:srgbClr val="31569F"/>
                  </a:solidFill>
                </a:rPr>
                <a:t> </a:t>
              </a:r>
              <a:endParaRPr lang="en-US" sz="1300" b="1" dirty="0">
                <a:solidFill>
                  <a:srgbClr val="31569F"/>
                </a:solidFill>
              </a:endParaRPr>
            </a:p>
          </p:txBody>
        </p:sp>
        <p:sp>
          <p:nvSpPr>
            <p:cNvPr id="27" name="Rectángulo redondeado 26"/>
            <p:cNvSpPr/>
            <p:nvPr/>
          </p:nvSpPr>
          <p:spPr>
            <a:xfrm>
              <a:off x="624579" y="1110140"/>
              <a:ext cx="6334853" cy="3244690"/>
            </a:xfrm>
            <a:prstGeom prst="roundRect">
              <a:avLst>
                <a:gd name="adj" fmla="val 491"/>
              </a:avLst>
            </a:prstGeom>
            <a:noFill/>
            <a:ln w="31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  <p:sp>
          <p:nvSpPr>
            <p:cNvPr id="26" name="Shape 3"/>
            <p:cNvSpPr/>
            <p:nvPr/>
          </p:nvSpPr>
          <p:spPr>
            <a:xfrm>
              <a:off x="592194" y="1110400"/>
              <a:ext cx="54000" cy="3276000"/>
            </a:xfrm>
            <a:prstGeom prst="roundRect">
              <a:avLst>
                <a:gd name="adj" fmla="val 93767"/>
              </a:avLst>
            </a:prstGeom>
            <a:solidFill>
              <a:srgbClr val="31569F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8" name="Rectángulo 27"/>
          <p:cNvSpPr/>
          <p:nvPr/>
        </p:nvSpPr>
        <p:spPr>
          <a:xfrm>
            <a:off x="5669846" y="6197347"/>
            <a:ext cx="646176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AR" sz="900" i="1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Fuente de datos: </a:t>
            </a:r>
            <a:r>
              <a:rPr lang="es-AR" sz="900" i="1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https://www.kaggle.com/datasets/nafiulislam490/bank-transaction-fraud-detection-dataset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b="59629"/>
          <a:stretch/>
        </p:blipFill>
        <p:spPr>
          <a:xfrm>
            <a:off x="127322" y="4350738"/>
            <a:ext cx="11851318" cy="16065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9" name="Rectángulo 28"/>
          <p:cNvSpPr/>
          <p:nvPr/>
        </p:nvSpPr>
        <p:spPr>
          <a:xfrm>
            <a:off x="127322" y="4084192"/>
            <a:ext cx="3520521" cy="261610"/>
          </a:xfrm>
          <a:prstGeom prst="rect">
            <a:avLst/>
          </a:prstGeom>
          <a:noFill/>
          <a:ln w="22860">
            <a:noFill/>
            <a:prstDash val="solid"/>
          </a:ln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es-MX" sz="1100" b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Vista del </a:t>
            </a:r>
            <a:r>
              <a:rPr lang="es-MX" sz="1100" b="1" dirty="0" err="1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dataset</a:t>
            </a:r>
            <a:r>
              <a:rPr lang="es-MX" sz="1100" b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 en Excel</a:t>
            </a:r>
            <a:endParaRPr lang="es-MX" sz="1100" b="1" i="1" dirty="0" smtClean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85741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18376" y="79230"/>
            <a:ext cx="8136824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000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2.1 Obtención 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y carga de los datos</a:t>
            </a:r>
            <a:endParaRPr lang="es-AR" sz="2000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sp>
        <p:nvSpPr>
          <p:cNvPr id="46" name="Rectángulo redondeado 45"/>
          <p:cNvSpPr/>
          <p:nvPr/>
        </p:nvSpPr>
        <p:spPr>
          <a:xfrm>
            <a:off x="681508" y="715528"/>
            <a:ext cx="3327091" cy="444306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  <a:sym typeface="Arial"/>
              </a:rPr>
              <a:t>Del csv de Kaggle a SQL Server</a:t>
            </a:r>
            <a:endParaRPr lang="es-AR" sz="1400" b="1" dirty="0">
              <a:solidFill>
                <a:srgbClr val="243F76"/>
              </a:solidFill>
              <a:latin typeface="Source Sans Pro"/>
              <a:ea typeface="Source Sans Pro"/>
              <a:cs typeface="Source Sans Pro"/>
              <a:sym typeface="Arial"/>
            </a:endParaRPr>
          </a:p>
        </p:txBody>
      </p:sp>
      <p:cxnSp>
        <p:nvCxnSpPr>
          <p:cNvPr id="42" name="Conector recto de flecha 41"/>
          <p:cNvCxnSpPr/>
          <p:nvPr/>
        </p:nvCxnSpPr>
        <p:spPr>
          <a:xfrm>
            <a:off x="883913" y="1218672"/>
            <a:ext cx="12199" cy="4320000"/>
          </a:xfrm>
          <a:prstGeom prst="straightConnector1">
            <a:avLst/>
          </a:prstGeom>
          <a:ln w="28575">
            <a:solidFill>
              <a:srgbClr val="265C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/>
          <p:cNvGrpSpPr/>
          <p:nvPr/>
        </p:nvGrpSpPr>
        <p:grpSpPr>
          <a:xfrm>
            <a:off x="1024247" y="4620394"/>
            <a:ext cx="3239065" cy="949893"/>
            <a:chOff x="2105842" y="4766015"/>
            <a:chExt cx="3239065" cy="949893"/>
          </a:xfrm>
        </p:grpSpPr>
        <p:sp>
          <p:nvSpPr>
            <p:cNvPr id="112" name="Rectángulo 111"/>
            <p:cNvSpPr/>
            <p:nvPr/>
          </p:nvSpPr>
          <p:spPr>
            <a:xfrm>
              <a:off x="2188829" y="5111331"/>
              <a:ext cx="3096000" cy="7200"/>
            </a:xfrm>
            <a:prstGeom prst="rect">
              <a:avLst/>
            </a:prstGeom>
            <a:solidFill>
              <a:srgbClr val="F2EEEE"/>
            </a:solidFill>
            <a:ln>
              <a:solidFill>
                <a:srgbClr val="F2EEE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600"/>
            </a:p>
          </p:txBody>
        </p:sp>
        <p:sp>
          <p:nvSpPr>
            <p:cNvPr id="113" name="Text 1"/>
            <p:cNvSpPr/>
            <p:nvPr/>
          </p:nvSpPr>
          <p:spPr>
            <a:xfrm rot="10800000" flipV="1">
              <a:off x="2188830" y="4802355"/>
              <a:ext cx="260765" cy="261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100"/>
                </a:lnSpc>
              </a:pPr>
              <a:r>
                <a:rPr lang="en-US" sz="1600" b="1" dirty="0" smtClean="0">
                  <a:solidFill>
                    <a:srgbClr val="265C77"/>
                  </a:solidFill>
                  <a:latin typeface="Source Sans Pro" panose="020B0604020202020204" charset="0"/>
                  <a:ea typeface="Dosis"/>
                  <a:cs typeface="Dosis"/>
                  <a:sym typeface="Dosis"/>
                </a:rPr>
                <a:t>04</a:t>
              </a:r>
              <a:endParaRPr lang="en-US" sz="1600" b="1" dirty="0">
                <a:solidFill>
                  <a:srgbClr val="265C77"/>
                </a:solidFill>
                <a:latin typeface="Source Sans Pro" panose="020B0604020202020204" charset="0"/>
                <a:ea typeface="Dosis"/>
                <a:cs typeface="Dosis"/>
                <a:sym typeface="Dosis"/>
              </a:endParaRPr>
            </a:p>
          </p:txBody>
        </p:sp>
        <p:sp>
          <p:nvSpPr>
            <p:cNvPr id="114" name="Google Shape;198;p35"/>
            <p:cNvSpPr txBox="1">
              <a:spLocks/>
            </p:cNvSpPr>
            <p:nvPr/>
          </p:nvSpPr>
          <p:spPr>
            <a:xfrm>
              <a:off x="2449595" y="4766015"/>
              <a:ext cx="2738593" cy="334534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R="0" lv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defRPr sz="1200" b="1" i="0" u="none" strike="noStrike" cap="none">
                  <a:solidFill>
                    <a:schemeClr val="bg2">
                      <a:lumMod val="50000"/>
                    </a:schemeClr>
                  </a:solidFill>
                  <a:latin typeface="Source Sans Pro"/>
                  <a:ea typeface="Source Sans Pro"/>
                  <a:cs typeface="Source Sans Pro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r>
                <a:rPr lang="es-MX" dirty="0">
                  <a:solidFill>
                    <a:schemeClr val="bg2">
                      <a:lumMod val="25000"/>
                    </a:schemeClr>
                  </a:solidFill>
                </a:rPr>
                <a:t>Carga y verificación de los datos   </a:t>
              </a:r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 </a:t>
              </a:r>
            </a:p>
          </p:txBody>
        </p:sp>
        <p:sp>
          <p:nvSpPr>
            <p:cNvPr id="116" name="Google Shape;198;p35"/>
            <p:cNvSpPr txBox="1">
              <a:spLocks/>
            </p:cNvSpPr>
            <p:nvPr/>
          </p:nvSpPr>
          <p:spPr>
            <a:xfrm>
              <a:off x="2105842" y="5115673"/>
              <a:ext cx="3239065" cy="600235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just"/>
              <a:r>
                <a:rPr lang="es-MX" sz="11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Se </a:t>
              </a:r>
              <a:r>
                <a:rPr lang="es-MX" sz="11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importó el archivo CSV mediante BULK INSERT y se comprobó la cantidad de registros y su contenido mediante consultas </a:t>
              </a:r>
              <a:r>
                <a:rPr lang="es-MX" sz="11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SQL.</a:t>
              </a:r>
              <a:endParaRPr lang="es-MX" sz="10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0" y="6445599"/>
            <a:ext cx="12193200" cy="407538"/>
            <a:chOff x="0" y="6080852"/>
            <a:chExt cx="12193200" cy="772285"/>
          </a:xfrm>
        </p:grpSpPr>
        <p:grpSp>
          <p:nvGrpSpPr>
            <p:cNvPr id="41" name="Grupo 40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44" name="Rectángulo 43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45" name="Rectángulo 44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47" name="Rectángulo 46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43" name="Rectángulo 42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51" name="Grupo 50"/>
          <p:cNvGrpSpPr/>
          <p:nvPr/>
        </p:nvGrpSpPr>
        <p:grpSpPr>
          <a:xfrm>
            <a:off x="1024248" y="1141317"/>
            <a:ext cx="3239065" cy="949893"/>
            <a:chOff x="2105842" y="4766015"/>
            <a:chExt cx="3239065" cy="949893"/>
          </a:xfrm>
        </p:grpSpPr>
        <p:sp>
          <p:nvSpPr>
            <p:cNvPr id="52" name="Rectángulo 51"/>
            <p:cNvSpPr/>
            <p:nvPr/>
          </p:nvSpPr>
          <p:spPr>
            <a:xfrm>
              <a:off x="2188829" y="5111331"/>
              <a:ext cx="3096000" cy="7200"/>
            </a:xfrm>
            <a:prstGeom prst="rect">
              <a:avLst/>
            </a:prstGeom>
            <a:solidFill>
              <a:srgbClr val="F2EEEE"/>
            </a:solidFill>
            <a:ln>
              <a:solidFill>
                <a:srgbClr val="F2EEE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600"/>
            </a:p>
          </p:txBody>
        </p:sp>
        <p:sp>
          <p:nvSpPr>
            <p:cNvPr id="53" name="Text 1"/>
            <p:cNvSpPr/>
            <p:nvPr/>
          </p:nvSpPr>
          <p:spPr>
            <a:xfrm rot="10800000" flipV="1">
              <a:off x="2188830" y="4802355"/>
              <a:ext cx="260765" cy="261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100"/>
                </a:lnSpc>
              </a:pPr>
              <a:r>
                <a:rPr lang="en-US" sz="1600" b="1" dirty="0" smtClean="0">
                  <a:solidFill>
                    <a:srgbClr val="265C77"/>
                  </a:solidFill>
                  <a:latin typeface="Source Sans Pro" panose="020B0604020202020204" charset="0"/>
                  <a:ea typeface="Dosis"/>
                  <a:cs typeface="Dosis"/>
                  <a:sym typeface="Dosis"/>
                </a:rPr>
                <a:t>01</a:t>
              </a:r>
              <a:endParaRPr lang="en-US" sz="1600" b="1" dirty="0">
                <a:solidFill>
                  <a:srgbClr val="265C77"/>
                </a:solidFill>
                <a:latin typeface="Source Sans Pro" panose="020B0604020202020204" charset="0"/>
                <a:ea typeface="Dosis"/>
                <a:cs typeface="Dosis"/>
                <a:sym typeface="Dosis"/>
              </a:endParaRPr>
            </a:p>
          </p:txBody>
        </p:sp>
        <p:sp>
          <p:nvSpPr>
            <p:cNvPr id="54" name="Google Shape;198;p35"/>
            <p:cNvSpPr txBox="1">
              <a:spLocks/>
            </p:cNvSpPr>
            <p:nvPr/>
          </p:nvSpPr>
          <p:spPr>
            <a:xfrm>
              <a:off x="2449595" y="4766015"/>
              <a:ext cx="2738593" cy="334534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R="0" lv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defRPr sz="1200" b="1" i="0" u="none" strike="noStrike" cap="none">
                  <a:solidFill>
                    <a:schemeClr val="bg2">
                      <a:lumMod val="50000"/>
                    </a:schemeClr>
                  </a:solidFill>
                  <a:latin typeface="Source Sans Pro"/>
                  <a:ea typeface="Source Sans Pro"/>
                  <a:cs typeface="Source Sans Pro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r>
                <a:rPr lang="es-AR" dirty="0" smtClean="0">
                  <a:solidFill>
                    <a:schemeClr val="bg2">
                      <a:lumMod val="25000"/>
                    </a:schemeClr>
                  </a:solidFill>
                </a:rPr>
                <a:t>Descarga del </a:t>
              </a:r>
              <a:r>
                <a:rPr lang="es-AR" dirty="0" err="1" smtClean="0">
                  <a:solidFill>
                    <a:schemeClr val="bg2">
                      <a:lumMod val="25000"/>
                    </a:schemeClr>
                  </a:solidFill>
                </a:rPr>
                <a:t>dataset</a:t>
              </a:r>
              <a:endParaRPr 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55" name="Google Shape;198;p35"/>
            <p:cNvSpPr txBox="1">
              <a:spLocks/>
            </p:cNvSpPr>
            <p:nvPr/>
          </p:nvSpPr>
          <p:spPr>
            <a:xfrm>
              <a:off x="2105842" y="5115673"/>
              <a:ext cx="3239065" cy="600235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just"/>
              <a:r>
                <a:rPr lang="es-MX" sz="11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Se obtuvo una tabla en archivo CSV desde Kaggle.</a:t>
              </a:r>
              <a:endParaRPr lang="es-MX" sz="10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grpSp>
        <p:nvGrpSpPr>
          <p:cNvPr id="56" name="Grupo 55"/>
          <p:cNvGrpSpPr/>
          <p:nvPr/>
        </p:nvGrpSpPr>
        <p:grpSpPr>
          <a:xfrm>
            <a:off x="1024248" y="2290849"/>
            <a:ext cx="3239065" cy="949893"/>
            <a:chOff x="2105842" y="4766015"/>
            <a:chExt cx="3239065" cy="949893"/>
          </a:xfrm>
        </p:grpSpPr>
        <p:sp>
          <p:nvSpPr>
            <p:cNvPr id="57" name="Rectángulo 56"/>
            <p:cNvSpPr/>
            <p:nvPr/>
          </p:nvSpPr>
          <p:spPr>
            <a:xfrm>
              <a:off x="2188829" y="5172291"/>
              <a:ext cx="3096000" cy="7200"/>
            </a:xfrm>
            <a:prstGeom prst="rect">
              <a:avLst/>
            </a:prstGeom>
            <a:solidFill>
              <a:srgbClr val="F2EEEE"/>
            </a:solidFill>
            <a:ln>
              <a:solidFill>
                <a:srgbClr val="F2EEE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600"/>
            </a:p>
          </p:txBody>
        </p:sp>
        <p:sp>
          <p:nvSpPr>
            <p:cNvPr id="58" name="Text 1"/>
            <p:cNvSpPr/>
            <p:nvPr/>
          </p:nvSpPr>
          <p:spPr>
            <a:xfrm rot="10800000" flipV="1">
              <a:off x="2188830" y="4802355"/>
              <a:ext cx="260765" cy="261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100"/>
                </a:lnSpc>
              </a:pPr>
              <a:r>
                <a:rPr lang="en-US" sz="1600" b="1" dirty="0" smtClean="0">
                  <a:solidFill>
                    <a:srgbClr val="265C77"/>
                  </a:solidFill>
                  <a:latin typeface="Source Sans Pro" panose="020B0604020202020204" charset="0"/>
                  <a:ea typeface="Dosis"/>
                  <a:cs typeface="Dosis"/>
                  <a:sym typeface="Dosis"/>
                </a:rPr>
                <a:t>02</a:t>
              </a:r>
              <a:endParaRPr lang="en-US" sz="1600" b="1" dirty="0">
                <a:solidFill>
                  <a:srgbClr val="265C77"/>
                </a:solidFill>
                <a:latin typeface="Source Sans Pro" panose="020B0604020202020204" charset="0"/>
                <a:ea typeface="Dosis"/>
                <a:cs typeface="Dosis"/>
                <a:sym typeface="Dosis"/>
              </a:endParaRPr>
            </a:p>
          </p:txBody>
        </p:sp>
        <p:sp>
          <p:nvSpPr>
            <p:cNvPr id="59" name="Google Shape;198;p35"/>
            <p:cNvSpPr txBox="1">
              <a:spLocks/>
            </p:cNvSpPr>
            <p:nvPr/>
          </p:nvSpPr>
          <p:spPr>
            <a:xfrm>
              <a:off x="2449595" y="4766015"/>
              <a:ext cx="2738593" cy="334534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R="0" lv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defRPr sz="1200" b="1" i="0" u="none" strike="noStrike" cap="none">
                  <a:solidFill>
                    <a:schemeClr val="bg2">
                      <a:lumMod val="50000"/>
                    </a:schemeClr>
                  </a:solidFill>
                  <a:latin typeface="Source Sans Pro"/>
                  <a:ea typeface="Source Sans Pro"/>
                  <a:cs typeface="Source Sans Pro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r>
                <a:rPr lang="es-AR" dirty="0">
                  <a:solidFill>
                    <a:schemeClr val="bg2">
                      <a:lumMod val="25000"/>
                    </a:schemeClr>
                  </a:solidFill>
                </a:rPr>
                <a:t>Creación de la base de datos y esquema</a:t>
              </a:r>
              <a:endParaRPr 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0" name="Google Shape;198;p35"/>
            <p:cNvSpPr txBox="1">
              <a:spLocks/>
            </p:cNvSpPr>
            <p:nvPr/>
          </p:nvSpPr>
          <p:spPr>
            <a:xfrm>
              <a:off x="2105842" y="5176961"/>
              <a:ext cx="3239065" cy="538947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just"/>
              <a:r>
                <a:rPr lang="es-MX" sz="11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Se </a:t>
              </a:r>
              <a:r>
                <a:rPr lang="es-MX" sz="11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creó la base de datos </a:t>
              </a:r>
              <a:r>
                <a:rPr lang="es-MX" sz="1100" i="1" dirty="0">
                  <a:solidFill>
                    <a:schemeClr val="bg2">
                      <a:lumMod val="50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BankFraud</a:t>
              </a:r>
              <a:r>
                <a:rPr lang="es-MX" sz="11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  y esquema </a:t>
              </a:r>
              <a:r>
                <a:rPr lang="es-MX" sz="1100" i="1" dirty="0" smtClean="0">
                  <a:solidFill>
                    <a:schemeClr val="bg2">
                      <a:lumMod val="50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stg_BankFraud</a:t>
              </a:r>
              <a:r>
                <a:rPr lang="es-MX" sz="11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.</a:t>
              </a:r>
              <a:endParaRPr lang="es-MX" sz="10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grpSp>
        <p:nvGrpSpPr>
          <p:cNvPr id="67" name="Grupo 66"/>
          <p:cNvGrpSpPr/>
          <p:nvPr/>
        </p:nvGrpSpPr>
        <p:grpSpPr>
          <a:xfrm>
            <a:off x="1024248" y="3440381"/>
            <a:ext cx="3239065" cy="980373"/>
            <a:chOff x="2105842" y="4766015"/>
            <a:chExt cx="3239065" cy="980373"/>
          </a:xfrm>
        </p:grpSpPr>
        <p:sp>
          <p:nvSpPr>
            <p:cNvPr id="69" name="Rectángulo 68"/>
            <p:cNvSpPr/>
            <p:nvPr/>
          </p:nvSpPr>
          <p:spPr>
            <a:xfrm>
              <a:off x="2188829" y="5111331"/>
              <a:ext cx="3096000" cy="7200"/>
            </a:xfrm>
            <a:prstGeom prst="rect">
              <a:avLst/>
            </a:prstGeom>
            <a:solidFill>
              <a:srgbClr val="F2EEEE"/>
            </a:solidFill>
            <a:ln>
              <a:solidFill>
                <a:srgbClr val="F2EEE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600"/>
            </a:p>
          </p:txBody>
        </p:sp>
        <p:sp>
          <p:nvSpPr>
            <p:cNvPr id="70" name="Text 1"/>
            <p:cNvSpPr/>
            <p:nvPr/>
          </p:nvSpPr>
          <p:spPr>
            <a:xfrm rot="10800000" flipV="1">
              <a:off x="2188830" y="4802355"/>
              <a:ext cx="260765" cy="261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100"/>
                </a:lnSpc>
              </a:pPr>
              <a:r>
                <a:rPr lang="en-US" sz="1600" b="1" dirty="0" smtClean="0">
                  <a:solidFill>
                    <a:srgbClr val="265C77"/>
                  </a:solidFill>
                  <a:latin typeface="Source Sans Pro" panose="020B0604020202020204" charset="0"/>
                  <a:ea typeface="Dosis"/>
                  <a:cs typeface="Dosis"/>
                  <a:sym typeface="Dosis"/>
                </a:rPr>
                <a:t>03</a:t>
              </a:r>
              <a:endParaRPr lang="en-US" sz="1600" b="1" dirty="0">
                <a:solidFill>
                  <a:srgbClr val="265C77"/>
                </a:solidFill>
                <a:latin typeface="Source Sans Pro" panose="020B0604020202020204" charset="0"/>
                <a:ea typeface="Dosis"/>
                <a:cs typeface="Dosis"/>
                <a:sym typeface="Dosis"/>
              </a:endParaRPr>
            </a:p>
          </p:txBody>
        </p:sp>
        <p:sp>
          <p:nvSpPr>
            <p:cNvPr id="71" name="Google Shape;198;p35"/>
            <p:cNvSpPr txBox="1">
              <a:spLocks/>
            </p:cNvSpPr>
            <p:nvPr/>
          </p:nvSpPr>
          <p:spPr>
            <a:xfrm>
              <a:off x="2449595" y="4766015"/>
              <a:ext cx="2738593" cy="334534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R="0" lv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defRPr sz="1200" b="1" i="0" u="none" strike="noStrike" cap="none">
                  <a:solidFill>
                    <a:schemeClr val="bg2">
                      <a:lumMod val="50000"/>
                    </a:schemeClr>
                  </a:solidFill>
                  <a:latin typeface="Source Sans Pro"/>
                  <a:ea typeface="Source Sans Pro"/>
                  <a:cs typeface="Source Sans Pro"/>
                </a:defRPr>
              </a:lvl1pPr>
              <a:lvl2pPr marR="0" lv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marR="0" lvl="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marR="0" lvl="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marR="0" lvl="4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marR="0" lvl="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marR="0" lvl="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marR="0" lvl="7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marR="0" lvl="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r>
                <a:rPr lang="es-AR" dirty="0">
                  <a:solidFill>
                    <a:schemeClr val="bg2">
                      <a:lumMod val="25000"/>
                    </a:schemeClr>
                  </a:solidFill>
                </a:rPr>
                <a:t>Creación de tabla inicial</a:t>
              </a:r>
              <a:endParaRPr 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2" name="Google Shape;198;p35"/>
            <p:cNvSpPr txBox="1">
              <a:spLocks/>
            </p:cNvSpPr>
            <p:nvPr/>
          </p:nvSpPr>
          <p:spPr>
            <a:xfrm>
              <a:off x="2105842" y="5146153"/>
              <a:ext cx="3239065" cy="600235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just"/>
              <a:r>
                <a:rPr lang="es-MX" altLang="en-US" sz="1100" dirty="0">
                  <a:solidFill>
                    <a:srgbClr val="525252"/>
                  </a:solidFill>
                  <a:latin typeface="Source Sans Pro"/>
                </a:rPr>
                <a:t>Creación de tabla inicial con 26 columnas en formato </a:t>
              </a:r>
              <a:r>
                <a:rPr lang="es-MX" sz="11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NVARCHAR llamada</a:t>
              </a:r>
              <a:r>
                <a:rPr lang="es-MX" altLang="en-US" sz="1100" dirty="0">
                  <a:solidFill>
                    <a:srgbClr val="525252"/>
                  </a:solidFill>
                  <a:latin typeface="Source Sans Pro"/>
                </a:rPr>
                <a:t>  </a:t>
              </a:r>
              <a:r>
                <a:rPr lang="en-US" altLang="en-US" sz="1100" i="1" dirty="0">
                  <a:solidFill>
                    <a:schemeClr val="bg2">
                      <a:lumMod val="50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stg_BankFraud.raw_BankFraud</a:t>
              </a:r>
              <a:r>
                <a:rPr lang="en-US" altLang="en-US" sz="1100" b="1" i="1" dirty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 </a:t>
              </a:r>
              <a:r>
                <a:rPr lang="en-US" altLang="en-US" sz="1100" b="1" i="1" dirty="0" smtClean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.</a:t>
              </a:r>
              <a:endParaRPr lang="es-MX" sz="10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t="294" r="56918" b="12035"/>
          <a:stretch/>
        </p:blipFill>
        <p:spPr>
          <a:xfrm>
            <a:off x="6715375" y="615847"/>
            <a:ext cx="4742573" cy="540910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softEdge rad="31750"/>
          </a:effectLst>
        </p:spPr>
      </p:pic>
      <p:grpSp>
        <p:nvGrpSpPr>
          <p:cNvPr id="73" name="Grupo 72"/>
          <p:cNvGrpSpPr/>
          <p:nvPr/>
        </p:nvGrpSpPr>
        <p:grpSpPr>
          <a:xfrm>
            <a:off x="6434184" y="264440"/>
            <a:ext cx="5381896" cy="6087274"/>
            <a:chOff x="7105578" y="1554480"/>
            <a:chExt cx="4974662" cy="3627120"/>
          </a:xfrm>
        </p:grpSpPr>
        <p:sp>
          <p:nvSpPr>
            <p:cNvPr id="75" name="Rectángulo 74"/>
            <p:cNvSpPr/>
            <p:nvPr/>
          </p:nvSpPr>
          <p:spPr>
            <a:xfrm>
              <a:off x="7105580" y="4758796"/>
              <a:ext cx="490354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s-AR" sz="900" i="1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  <p:sp>
          <p:nvSpPr>
            <p:cNvPr id="76" name="Rectángulo redondeado 75"/>
            <p:cNvSpPr/>
            <p:nvPr/>
          </p:nvSpPr>
          <p:spPr>
            <a:xfrm>
              <a:off x="7105579" y="1554480"/>
              <a:ext cx="4974661" cy="3627120"/>
            </a:xfrm>
            <a:prstGeom prst="roundRect">
              <a:avLst>
                <a:gd name="adj" fmla="val 1798"/>
              </a:avLst>
            </a:prstGeom>
            <a:noFill/>
            <a:ln w="31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  <p:sp>
          <p:nvSpPr>
            <p:cNvPr id="77" name="Rectángulo 76"/>
            <p:cNvSpPr/>
            <p:nvPr/>
          </p:nvSpPr>
          <p:spPr>
            <a:xfrm>
              <a:off x="7105578" y="1594576"/>
              <a:ext cx="4974661" cy="160466"/>
            </a:xfrm>
            <a:prstGeom prst="rect">
              <a:avLst/>
            </a:prstGeom>
            <a:noFill/>
            <a:ln w="22860">
              <a:noFill/>
              <a:prstDash val="solid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es-MX" sz="1150" b="1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Creación </a:t>
              </a:r>
              <a:r>
                <a:rPr lang="es-MX" sz="1150" b="1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base de datos, esquema e </a:t>
              </a:r>
              <a:r>
                <a:rPr lang="es-MX" sz="1150" b="1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imputación </a:t>
              </a:r>
              <a:r>
                <a:rPr lang="es-MX" sz="1150" b="1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de los datos</a:t>
              </a:r>
              <a:endParaRPr lang="es-MX" sz="1150" b="1" i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101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18376" y="79230"/>
            <a:ext cx="8136824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000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2.1 Obtención 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y carga de los datos</a:t>
            </a:r>
            <a:endParaRPr lang="es-AR" sz="2000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40" name="Grupo 39"/>
          <p:cNvGrpSpPr/>
          <p:nvPr/>
        </p:nvGrpSpPr>
        <p:grpSpPr>
          <a:xfrm>
            <a:off x="0" y="6445599"/>
            <a:ext cx="12193200" cy="407538"/>
            <a:chOff x="0" y="6080852"/>
            <a:chExt cx="12193200" cy="772285"/>
          </a:xfrm>
        </p:grpSpPr>
        <p:grpSp>
          <p:nvGrpSpPr>
            <p:cNvPr id="41" name="Grupo 40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44" name="Rectángulo 43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45" name="Rectángulo 44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47" name="Rectángulo 46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43" name="Rectángulo 42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73" name="Grupo 72"/>
          <p:cNvGrpSpPr/>
          <p:nvPr/>
        </p:nvGrpSpPr>
        <p:grpSpPr>
          <a:xfrm>
            <a:off x="3545840" y="653032"/>
            <a:ext cx="8442960" cy="5698681"/>
            <a:chOff x="4435788" y="1554480"/>
            <a:chExt cx="7644453" cy="3627120"/>
          </a:xfrm>
        </p:grpSpPr>
        <p:sp>
          <p:nvSpPr>
            <p:cNvPr id="75" name="Rectángulo 74"/>
            <p:cNvSpPr/>
            <p:nvPr/>
          </p:nvSpPr>
          <p:spPr>
            <a:xfrm>
              <a:off x="7105580" y="4758796"/>
              <a:ext cx="490354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s-AR" sz="900" i="1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  <p:sp>
          <p:nvSpPr>
            <p:cNvPr id="76" name="Rectángulo redondeado 75"/>
            <p:cNvSpPr/>
            <p:nvPr/>
          </p:nvSpPr>
          <p:spPr>
            <a:xfrm>
              <a:off x="4435788" y="1554480"/>
              <a:ext cx="7644453" cy="3627120"/>
            </a:xfrm>
            <a:prstGeom prst="roundRect">
              <a:avLst>
                <a:gd name="adj" fmla="val 1798"/>
              </a:avLst>
            </a:prstGeom>
            <a:noFill/>
            <a:ln w="31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  <p:sp>
          <p:nvSpPr>
            <p:cNvPr id="77" name="Rectángulo 76"/>
            <p:cNvSpPr/>
            <p:nvPr/>
          </p:nvSpPr>
          <p:spPr>
            <a:xfrm>
              <a:off x="4566438" y="1594576"/>
              <a:ext cx="7513801" cy="171408"/>
            </a:xfrm>
            <a:prstGeom prst="rect">
              <a:avLst/>
            </a:prstGeom>
            <a:noFill/>
            <a:ln w="22860">
              <a:noFill/>
              <a:prstDash val="solid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es-MX" sz="1150" b="1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</a:rPr>
                <a:t>Salidas de las consultas de prueba</a:t>
              </a:r>
              <a:endParaRPr lang="es-MX" sz="1150" b="1" i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42" y="1365064"/>
            <a:ext cx="2745693" cy="377942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3960" y="1365064"/>
            <a:ext cx="2941800" cy="486114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softEdge rad="31750"/>
          </a:effectLst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137" y="1638972"/>
            <a:ext cx="5169527" cy="400151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92018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4255" y="450903"/>
            <a:ext cx="10756739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Dosis"/>
              </a:rPr>
              <a:t>Desarrollo del </a:t>
            </a: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Source Sans Pro"/>
              </a:rPr>
              <a:t>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44255" y="1188664"/>
            <a:ext cx="8907684" cy="339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300" i="1" dirty="0">
                <a:solidFill>
                  <a:schemeClr val="bg2">
                    <a:lumMod val="50000"/>
                  </a:schemeClr>
                </a:solidFill>
                <a:latin typeface="Source Sans Pro" panose="020B0604020202020204" charset="0"/>
                <a:ea typeface="Source Sans Pro"/>
                <a:cs typeface="PT Serif" panose="020B0604020202020204" charset="0"/>
                <a:sym typeface="Dosis"/>
              </a:rPr>
              <a:t>Cada equipo deberá desarrollar un caso de negocio que contemple los siguientes aspectos</a:t>
            </a:r>
            <a:r>
              <a:rPr lang="es-MX" sz="1300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lang="es-AR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27" name="Grupo 26"/>
          <p:cNvGrpSpPr/>
          <p:nvPr/>
        </p:nvGrpSpPr>
        <p:grpSpPr>
          <a:xfrm>
            <a:off x="1978655" y="1799163"/>
            <a:ext cx="7859211" cy="3647772"/>
            <a:chOff x="1835502" y="1314745"/>
            <a:chExt cx="8616437" cy="3647772"/>
          </a:xfrm>
        </p:grpSpPr>
        <p:sp>
          <p:nvSpPr>
            <p:cNvPr id="5" name="Marcador de contenido 2"/>
            <p:cNvSpPr txBox="1">
              <a:spLocks/>
            </p:cNvSpPr>
            <p:nvPr/>
          </p:nvSpPr>
          <p:spPr>
            <a:xfrm>
              <a:off x="1962873" y="1422341"/>
              <a:ext cx="8489066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Planteamiento del caso de negocio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identificar una problemática empresarial, describir el contexto y definir qué se busca analizar o resolver.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Selección de la fuente de datos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obtener un conjunto de datos pertinente para el caso elegido, documentando su procedencia.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Limpieza y validación de datos: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identificar y tratar valores nulos, registros duplicados, inconsistencias y problemas en los tipos de datos, según corresponda.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Diseño del modelo dimensional: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construir un modelo tipo estrella, definiendo la tabla de hechos, sus dimensiones, las claves y las relaciones entre ellas.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Transformación y análisis con SQL: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desarrollar consultas que permitan preparar los datos, relacionar tablas y generar información útil para el negocio.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AR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Cálculos e indicadores</a:t>
              </a:r>
              <a:r>
                <a:rPr lang="es-AR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implementar las métricas necesarias para responder las preguntas del negocio, tales como montos, cantidades, promedios, porcentajes u otros indicadores relevantes.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Justificación de la solución: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explicar por qué se eligió ese modelo, cómo se desarrolló y de qué manera contribuye a resolver la problemática identificada.</a:t>
              </a:r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1835502" y="1314745"/>
              <a:ext cx="8616437" cy="3647771"/>
            </a:xfrm>
            <a:prstGeom prst="roundRect">
              <a:avLst>
                <a:gd name="adj" fmla="val 2115"/>
              </a:avLst>
            </a:prstGeom>
            <a:noFill/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</p:grpSp>
      <p:sp>
        <p:nvSpPr>
          <p:cNvPr id="28" name="Shape 3"/>
          <p:cNvSpPr/>
          <p:nvPr/>
        </p:nvSpPr>
        <p:spPr>
          <a:xfrm>
            <a:off x="1978655" y="1799163"/>
            <a:ext cx="58706" cy="3647772"/>
          </a:xfrm>
          <a:prstGeom prst="roundRect">
            <a:avLst>
              <a:gd name="adj" fmla="val 93767"/>
            </a:avLst>
          </a:prstGeom>
          <a:solidFill>
            <a:srgbClr val="31569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9" name="Rectángulo 18"/>
          <p:cNvSpPr/>
          <p:nvPr/>
        </p:nvSpPr>
        <p:spPr>
          <a:xfrm>
            <a:off x="2094832" y="2805474"/>
            <a:ext cx="7580987" cy="545050"/>
          </a:xfrm>
          <a:prstGeom prst="rect">
            <a:avLst/>
          </a:prstGeom>
          <a:solidFill>
            <a:srgbClr val="31569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870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3" name="Título 1"/>
          <p:cNvSpPr txBox="1">
            <a:spLocks/>
          </p:cNvSpPr>
          <p:nvPr/>
        </p:nvSpPr>
        <p:spPr>
          <a:xfrm>
            <a:off x="1596013" y="156560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3</a:t>
            </a: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.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Limpieza y validación de datos </a:t>
            </a:r>
            <a:r>
              <a:rPr lang="es-AR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 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24" name="Rectángulo redondeado 23"/>
          <p:cNvSpPr/>
          <p:nvPr/>
        </p:nvSpPr>
        <p:spPr>
          <a:xfrm>
            <a:off x="489256" y="1368479"/>
            <a:ext cx="4510252" cy="444306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Previa limpieza y validación de datos</a:t>
            </a:r>
            <a:endParaRPr lang="es-AR" sz="14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</p:txBody>
      </p:sp>
      <p:sp>
        <p:nvSpPr>
          <p:cNvPr id="8" name="Flecha derecha 7"/>
          <p:cNvSpPr/>
          <p:nvPr/>
        </p:nvSpPr>
        <p:spPr>
          <a:xfrm rot="5400000">
            <a:off x="2529413" y="1858295"/>
            <a:ext cx="429937" cy="324726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redondeado 8"/>
          <p:cNvSpPr/>
          <p:nvPr/>
        </p:nvSpPr>
        <p:spPr>
          <a:xfrm>
            <a:off x="1108228" y="2386736"/>
            <a:ext cx="3281680" cy="766167"/>
          </a:xfrm>
          <a:prstGeom prst="roundRect">
            <a:avLst/>
          </a:prstGeom>
          <a:solidFill>
            <a:srgbClr val="E3ECFB"/>
          </a:solidFill>
        </p:spPr>
        <p:txBody>
          <a:bodyPr wrap="square">
            <a:spAutoFit/>
          </a:bodyPr>
          <a:lstStyle/>
          <a:p>
            <a:pPr algn="ctr"/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Tomar </a:t>
            </a:r>
            <a:r>
              <a:rPr lang="es-MX" sz="1300" b="1" dirty="0" smtClean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</a:rPr>
              <a:t>tabla </a:t>
            </a:r>
            <a:r>
              <a:rPr lang="es-MX" sz="1300" b="1" dirty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</a:rPr>
              <a:t>inicial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con los datos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ingresados en nvarchar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y </a:t>
            </a:r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transformarlos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al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formato </a:t>
            </a:r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correcto.</a:t>
            </a:r>
            <a:endParaRPr lang="es-AR" sz="13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704" y="1368479"/>
            <a:ext cx="3760652" cy="4339213"/>
          </a:xfrm>
          <a:prstGeom prst="rect">
            <a:avLst/>
          </a:prstGeom>
        </p:spPr>
      </p:pic>
      <p:sp>
        <p:nvSpPr>
          <p:cNvPr id="46" name="Rectángulo redondeado 45"/>
          <p:cNvSpPr/>
          <p:nvPr/>
        </p:nvSpPr>
        <p:spPr>
          <a:xfrm>
            <a:off x="6482670" y="794677"/>
            <a:ext cx="4287520" cy="5079254"/>
          </a:xfrm>
          <a:prstGeom prst="roundRect">
            <a:avLst>
              <a:gd name="adj" fmla="val 1798"/>
            </a:avLst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47" name="Rectángulo 46"/>
          <p:cNvSpPr/>
          <p:nvPr/>
        </p:nvSpPr>
        <p:spPr>
          <a:xfrm>
            <a:off x="6482670" y="1010220"/>
            <a:ext cx="4287520" cy="269304"/>
          </a:xfrm>
          <a:prstGeom prst="rect">
            <a:avLst/>
          </a:prstGeom>
          <a:noFill/>
          <a:ln w="22860">
            <a:noFill/>
            <a:prstDash val="solid"/>
          </a:ln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es-MX" sz="1150" b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Transformación de tabla inicial:</a:t>
            </a:r>
            <a:endParaRPr lang="es-MX" sz="1150" b="1" i="1" dirty="0" smtClean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8" name="Rectángulo redondeado 47"/>
          <p:cNvSpPr/>
          <p:nvPr/>
        </p:nvSpPr>
        <p:spPr>
          <a:xfrm>
            <a:off x="458347" y="3727457"/>
            <a:ext cx="4510252" cy="444306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 smtClean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  <a:sym typeface="Arial"/>
              </a:rPr>
              <a:t>ALTER TABLE </a:t>
            </a:r>
          </a:p>
          <a:p>
            <a:pPr algn="ctr"/>
            <a:endParaRPr lang="it-IT" sz="1200" b="1" dirty="0" smtClean="0">
              <a:solidFill>
                <a:srgbClr val="31569F"/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algn="ctr"/>
            <a:r>
              <a:rPr lang="it-IT" sz="1200" b="1" dirty="0" smtClean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  <a:sym typeface="Arial"/>
              </a:rPr>
              <a:t>ALTER COLUMNA</a:t>
            </a:r>
            <a:endParaRPr lang="es-AR" sz="1200" b="1" dirty="0">
              <a:solidFill>
                <a:srgbClr val="31569F"/>
              </a:solidFill>
              <a:latin typeface="Source Sans Pro"/>
              <a:ea typeface="Source Sans Pro"/>
              <a:cs typeface="Source Sans Pro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849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3" name="Título 1"/>
          <p:cNvSpPr txBox="1">
            <a:spLocks/>
          </p:cNvSpPr>
          <p:nvPr/>
        </p:nvSpPr>
        <p:spPr>
          <a:xfrm>
            <a:off x="1596013" y="156560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3</a:t>
            </a: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.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Limpieza y validación de datos </a:t>
            </a:r>
            <a:r>
              <a:rPr lang="es-AR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 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24" name="Rectángulo redondeado 23"/>
          <p:cNvSpPr/>
          <p:nvPr/>
        </p:nvSpPr>
        <p:spPr>
          <a:xfrm>
            <a:off x="489256" y="1368479"/>
            <a:ext cx="4510252" cy="444306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Previa limpieza y validación de datos</a:t>
            </a:r>
            <a:endParaRPr lang="es-AR" sz="14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</p:txBody>
      </p:sp>
      <p:sp>
        <p:nvSpPr>
          <p:cNvPr id="8" name="Flecha derecha 7"/>
          <p:cNvSpPr/>
          <p:nvPr/>
        </p:nvSpPr>
        <p:spPr>
          <a:xfrm rot="5400000">
            <a:off x="2529413" y="1858295"/>
            <a:ext cx="429937" cy="324726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redondeado 8"/>
          <p:cNvSpPr/>
          <p:nvPr/>
        </p:nvSpPr>
        <p:spPr>
          <a:xfrm>
            <a:off x="1108228" y="2386736"/>
            <a:ext cx="3281680" cy="766167"/>
          </a:xfrm>
          <a:prstGeom prst="roundRect">
            <a:avLst/>
          </a:prstGeom>
          <a:solidFill>
            <a:srgbClr val="E3ECFB"/>
          </a:solidFill>
        </p:spPr>
        <p:txBody>
          <a:bodyPr wrap="square">
            <a:spAutoFit/>
          </a:bodyPr>
          <a:lstStyle/>
          <a:p>
            <a:pPr algn="ctr"/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Tomar </a:t>
            </a:r>
            <a:r>
              <a:rPr lang="es-MX" sz="1300" b="1" dirty="0" smtClean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</a:rPr>
              <a:t>tabla </a:t>
            </a:r>
            <a:r>
              <a:rPr lang="es-MX" sz="1300" b="1" dirty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</a:rPr>
              <a:t>inicial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con los datos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ingresados en nvarchar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y </a:t>
            </a:r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transformarlos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al </a:t>
            </a:r>
            <a:r>
              <a: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formato </a:t>
            </a:r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correcto.</a:t>
            </a:r>
            <a:endParaRPr lang="es-AR" sz="13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6" name="Rectángulo redondeado 45"/>
          <p:cNvSpPr/>
          <p:nvPr/>
        </p:nvSpPr>
        <p:spPr>
          <a:xfrm>
            <a:off x="6482670" y="794676"/>
            <a:ext cx="4287520" cy="5254377"/>
          </a:xfrm>
          <a:prstGeom prst="roundRect">
            <a:avLst>
              <a:gd name="adj" fmla="val 1798"/>
            </a:avLst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47" name="Rectángulo 46"/>
          <p:cNvSpPr/>
          <p:nvPr/>
        </p:nvSpPr>
        <p:spPr>
          <a:xfrm>
            <a:off x="6482670" y="879001"/>
            <a:ext cx="4287520" cy="269304"/>
          </a:xfrm>
          <a:prstGeom prst="rect">
            <a:avLst/>
          </a:prstGeom>
          <a:noFill/>
          <a:ln w="22860">
            <a:noFill/>
            <a:prstDash val="solid"/>
          </a:ln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es-MX" sz="1150" b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Salida de la transformación de tabla inicial:</a:t>
            </a:r>
            <a:endParaRPr lang="es-MX" sz="1150" b="1" i="1" dirty="0" smtClean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8" name="Rectángulo redondeado 47"/>
          <p:cNvSpPr/>
          <p:nvPr/>
        </p:nvSpPr>
        <p:spPr>
          <a:xfrm>
            <a:off x="458347" y="3727457"/>
            <a:ext cx="4510252" cy="444306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 smtClean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  <a:sym typeface="Arial"/>
              </a:rPr>
              <a:t>ALTER TABLE </a:t>
            </a:r>
          </a:p>
          <a:p>
            <a:pPr algn="ctr"/>
            <a:endParaRPr lang="it-IT" sz="1200" b="1" dirty="0" smtClean="0">
              <a:solidFill>
                <a:srgbClr val="31569F"/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algn="ctr"/>
            <a:r>
              <a:rPr lang="it-IT" sz="1200" b="1" dirty="0" smtClean="0">
                <a:solidFill>
                  <a:srgbClr val="31569F"/>
                </a:solidFill>
                <a:latin typeface="Source Sans Pro"/>
                <a:ea typeface="Source Sans Pro"/>
                <a:cs typeface="Source Sans Pro"/>
                <a:sym typeface="Arial"/>
              </a:rPr>
              <a:t>ALTER COLUMNA</a:t>
            </a:r>
            <a:endParaRPr lang="es-AR" sz="1200" b="1" dirty="0">
              <a:solidFill>
                <a:srgbClr val="31569F"/>
              </a:solidFill>
              <a:latin typeface="Source Sans Pro"/>
              <a:ea typeface="Source Sans Pro"/>
              <a:cs typeface="Source Sans Pro"/>
              <a:sym typeface="Arial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835" y="1173127"/>
            <a:ext cx="3679190" cy="478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95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3" name="Título 1"/>
          <p:cNvSpPr txBox="1">
            <a:spLocks/>
          </p:cNvSpPr>
          <p:nvPr/>
        </p:nvSpPr>
        <p:spPr>
          <a:xfrm>
            <a:off x="1596013" y="156560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3</a:t>
            </a: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.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Limpieza y validación de datos </a:t>
            </a:r>
            <a:r>
              <a:rPr lang="es-AR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 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46" name="Rectángulo 45"/>
          <p:cNvSpPr/>
          <p:nvPr/>
        </p:nvSpPr>
        <p:spPr>
          <a:xfrm>
            <a:off x="1081138" y="978492"/>
            <a:ext cx="5787022" cy="482715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Cantidad </a:t>
            </a:r>
            <a:r>
              <a:rPr lang="it-IT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de valores distintos por cada </a:t>
            </a: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columna.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Identificadores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repetidos de </a:t>
            </a:r>
            <a:r>
              <a:rPr lang="es-MX" sz="1200" i="1" dirty="0" err="1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transaction_id</a:t>
            </a:r>
            <a:endParaRPr lang="es-MX" sz="1200" i="1" dirty="0" smtClean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Registros completos iguales (no solo </a:t>
            </a:r>
            <a:r>
              <a:rPr lang="es-MX" sz="1200" i="1" dirty="0" err="1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transaction_id</a:t>
            </a:r>
            <a:r>
              <a:rPr lang="es-MX" sz="1200" i="1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)</a:t>
            </a:r>
            <a:endParaRPr lang="es-MX" sz="1200" dirty="0" smtClean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Comprobar si hay nulos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y/o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valores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vacíos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it-IT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Marcadores </a:t>
            </a: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textuales (None, n/a, </a:t>
            </a:r>
            <a:r>
              <a:rPr lang="it-IT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na) </a:t>
            </a:r>
            <a:endParaRPr lang="it-IT" sz="1200" dirty="0" smtClean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Corrobor </a:t>
            </a:r>
            <a:r>
              <a:rPr lang="it-IT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periodo del </a:t>
            </a: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dataset (2020-2024)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Valores únicos de las variables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categóricas (Country,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ity, categorías, tipo de dispositivo, tipos de fraude)</a:t>
            </a:r>
            <a:endParaRPr lang="it-IT" sz="1200" dirty="0" smtClean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Revisar las columnas binarias </a:t>
            </a:r>
            <a:r>
              <a:rPr lang="es-MX" sz="1200" i="1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(</a:t>
            </a:r>
            <a:r>
              <a:rPr lang="en-US" sz="1200" i="1" dirty="0" err="1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is_weekend</a:t>
            </a:r>
            <a:r>
              <a:rPr lang="en-US" sz="1200" i="1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, </a:t>
            </a:r>
            <a:r>
              <a:rPr lang="en-US" sz="1200" i="1" dirty="0" err="1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is_night_transaction</a:t>
            </a:r>
            <a:r>
              <a:rPr lang="en-US" sz="1200" i="1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, </a:t>
            </a:r>
            <a:r>
              <a:rPr lang="en-US" sz="1200" i="1" dirty="0" err="1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is_international</a:t>
            </a:r>
            <a:r>
              <a:rPr lang="en-US" sz="1200" i="1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, </a:t>
            </a:r>
            <a:r>
              <a:rPr lang="en-US" sz="1200" i="1" dirty="0" err="1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pin_changed_recently</a:t>
            </a:r>
            <a:r>
              <a:rPr lang="en-US" sz="1200" i="1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 y </a:t>
            </a:r>
            <a:r>
              <a:rPr lang="en-US" sz="1200" i="1" dirty="0" err="1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is_fraud</a:t>
            </a:r>
            <a:r>
              <a:rPr lang="en-US" sz="1200" i="1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)</a:t>
            </a:r>
            <a:endParaRPr lang="es-MX" sz="1200" i="1" dirty="0" smtClean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Conocer valores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mínimos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y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máximos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de las variables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numéricas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Comprobar consistencia: </a:t>
            </a:r>
            <a:r>
              <a:rPr lang="es-MX" sz="1200" i="1" dirty="0" err="1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is_night_transaction</a:t>
            </a:r>
            <a:r>
              <a:rPr lang="es-MX" sz="1200" i="1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vs hora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Comprobar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consistencia: </a:t>
            </a:r>
            <a:r>
              <a:rPr lang="it-IT" sz="1200" i="1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credit_score </a:t>
            </a: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entre </a:t>
            </a:r>
            <a:r>
              <a:rPr lang="it-IT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300 y </a:t>
            </a: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850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Consistencia de las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variables categorías (minúsculas/ </a:t>
            </a:r>
            <a:r>
              <a:rPr lang="es-MX" sz="1200" dirty="0" err="1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mayusculas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/ espacios)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Consistencia de las etiquetas de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fraude: </a:t>
            </a:r>
            <a:r>
              <a:rPr lang="es-MX" sz="1200" i="1" dirty="0" err="1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is_fraud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 y </a:t>
            </a:r>
            <a:r>
              <a:rPr lang="es-MX" sz="1200" i="1" dirty="0" err="1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fraud_type</a:t>
            </a:r>
            <a:endParaRPr lang="es-MX" sz="1200" i="1" dirty="0" smtClean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Consistencia entre el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método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de pago y 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el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tipo de fraude: </a:t>
            </a:r>
            <a:r>
              <a:rPr lang="es-MX" sz="1200" i="1" dirty="0" err="1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payment_method</a:t>
            </a:r>
            <a:r>
              <a:rPr lang="es-MX" sz="1200" i="1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 vs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 </a:t>
            </a:r>
            <a:r>
              <a:rPr lang="es-MX" sz="1200" i="1" dirty="0" err="1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fraud_type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,</a:t>
            </a:r>
            <a:endParaRPr lang="es-MX" sz="1200" dirty="0" smtClean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it-IT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Consistencias de los clientes (</a:t>
            </a:r>
            <a:r>
              <a:rPr lang="it-IT" sz="1200" i="1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customer_id</a:t>
            </a: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)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Comprobar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inconsistencias entre y la hora del </a:t>
            </a:r>
            <a:r>
              <a:rPr lang="es-MX" sz="1200" dirty="0" err="1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dia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: </a:t>
            </a:r>
            <a:r>
              <a:rPr lang="es-MX" sz="1200" i="1" dirty="0" err="1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hour_of_day</a:t>
            </a:r>
            <a:r>
              <a:rPr lang="es-MX" sz="1200" i="1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 vs </a:t>
            </a:r>
            <a:r>
              <a:rPr lang="es-MX" sz="1200" i="1" dirty="0" err="1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transaction_time</a:t>
            </a:r>
            <a:endParaRPr lang="es-MX" sz="1200" i="1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  <a:buFont typeface="Wingdings" panose="05000000000000000000" pitchFamily="2" charset="2"/>
              <a:buChar char="§"/>
            </a:pP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Comprobar inconsistencias </a:t>
            </a:r>
            <a:r>
              <a:rPr lang="it-IT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ciudades y paises</a:t>
            </a:r>
            <a:endParaRPr lang="es-AR" sz="14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smtClean="0">
                <a:ln>
                  <a:noFill/>
                </a:ln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Que hour_of_day este entre 0-23</a:t>
            </a: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66098" y="820900"/>
            <a:ext cx="61699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  <a:sym typeface="Arial"/>
              </a:rPr>
              <a:t>Exploración de la tabla inicial </a:t>
            </a:r>
          </a:p>
        </p:txBody>
      </p:sp>
      <p:sp>
        <p:nvSpPr>
          <p:cNvPr id="47" name="Rectángulo redondeado 46"/>
          <p:cNvSpPr/>
          <p:nvPr/>
        </p:nvSpPr>
        <p:spPr>
          <a:xfrm>
            <a:off x="945470" y="761340"/>
            <a:ext cx="5922690" cy="5079254"/>
          </a:xfrm>
          <a:prstGeom prst="roundRect">
            <a:avLst>
              <a:gd name="adj" fmla="val 1798"/>
            </a:avLst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48" name="Flecha derecha 47"/>
          <p:cNvSpPr/>
          <p:nvPr/>
        </p:nvSpPr>
        <p:spPr>
          <a:xfrm>
            <a:off x="7003828" y="2976241"/>
            <a:ext cx="646652" cy="285119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9" name="Rectángulo redondeado 48"/>
          <p:cNvSpPr/>
          <p:nvPr/>
        </p:nvSpPr>
        <p:spPr>
          <a:xfrm>
            <a:off x="7935748" y="2860777"/>
            <a:ext cx="3281680" cy="544830"/>
          </a:xfrm>
          <a:prstGeom prst="roundRect">
            <a:avLst/>
          </a:prstGeom>
          <a:solidFill>
            <a:srgbClr val="E3ECFB"/>
          </a:solidFill>
        </p:spPr>
        <p:txBody>
          <a:bodyPr wrap="square">
            <a:spAutoFit/>
          </a:bodyPr>
          <a:lstStyle/>
          <a:p>
            <a:pPr algn="ctr"/>
            <a:r>
              <a:rPr lang="es-MX" sz="1300" b="1" dirty="0" smtClean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rPr>
              <a:t>Principales hallazgos</a:t>
            </a:r>
          </a:p>
          <a:p>
            <a:pPr algn="ctr"/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Ver Código en SQL Server</a:t>
            </a:r>
            <a:endParaRPr lang="es-AR" sz="13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95484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4255" y="450903"/>
            <a:ext cx="10756739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Dosis"/>
              </a:rPr>
              <a:t>Desarrollo del </a:t>
            </a: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Source Sans Pro"/>
              </a:rPr>
              <a:t>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44255" y="1188664"/>
            <a:ext cx="8907684" cy="339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300" i="1" dirty="0">
                <a:solidFill>
                  <a:schemeClr val="bg2">
                    <a:lumMod val="50000"/>
                  </a:schemeClr>
                </a:solidFill>
                <a:latin typeface="Source Sans Pro" panose="020B0604020202020204" charset="0"/>
                <a:ea typeface="Source Sans Pro"/>
                <a:cs typeface="PT Serif" panose="020B0604020202020204" charset="0"/>
                <a:sym typeface="Dosis"/>
              </a:rPr>
              <a:t>Cada equipo deberá desarrollar un caso de negocio que contemple los siguientes aspectos</a:t>
            </a:r>
            <a:r>
              <a:rPr lang="es-MX" sz="1300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lang="es-AR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27" name="Grupo 26"/>
          <p:cNvGrpSpPr/>
          <p:nvPr/>
        </p:nvGrpSpPr>
        <p:grpSpPr>
          <a:xfrm>
            <a:off x="1978655" y="1799163"/>
            <a:ext cx="7859211" cy="3647772"/>
            <a:chOff x="1835502" y="1314745"/>
            <a:chExt cx="8616437" cy="3647772"/>
          </a:xfrm>
        </p:grpSpPr>
        <p:sp>
          <p:nvSpPr>
            <p:cNvPr id="5" name="Marcador de contenido 2"/>
            <p:cNvSpPr txBox="1">
              <a:spLocks/>
            </p:cNvSpPr>
            <p:nvPr/>
          </p:nvSpPr>
          <p:spPr>
            <a:xfrm>
              <a:off x="1962873" y="1422341"/>
              <a:ext cx="8489066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Planteamiento del caso de negocio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identificar una problemática empresarial, describir el contexto y definir qué se busca analizar o resolver.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Selección de la fuente de datos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obtener un conjunto de datos pertinente para el caso elegido, documentando su procedencia.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Limpieza y validación de datos: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identificar y tratar valores nulos, registros duplicados, inconsistencias y problemas en los tipos de datos, según corresponda.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Diseño del modelo dimensional: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construir un modelo tipo estrella, definiendo la tabla de hechos, sus dimensiones, las claves y las relaciones entre ellas.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Transformación y análisis con SQL: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desarrollar consultas que permitan preparar los datos, relacionar tablas y generar información útil para el negocio.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AR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Cálculos e indicadores</a:t>
              </a:r>
              <a:r>
                <a:rPr lang="es-AR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implementar las métricas necesarias para responder las preguntas del negocio, tales como montos, cantidades, promedios, porcentajes u otros indicadores relevantes.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Justificación de la solución: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explicar por qué se eligió ese modelo, cómo se desarrolló y de qué manera contribuye a resolver la problemática identificada.</a:t>
              </a:r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1835502" y="1314745"/>
              <a:ext cx="8616437" cy="3647771"/>
            </a:xfrm>
            <a:prstGeom prst="roundRect">
              <a:avLst>
                <a:gd name="adj" fmla="val 2115"/>
              </a:avLst>
            </a:prstGeom>
            <a:noFill/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</p:grpSp>
      <p:sp>
        <p:nvSpPr>
          <p:cNvPr id="28" name="Shape 3"/>
          <p:cNvSpPr/>
          <p:nvPr/>
        </p:nvSpPr>
        <p:spPr>
          <a:xfrm>
            <a:off x="1978655" y="1799163"/>
            <a:ext cx="58706" cy="3647772"/>
          </a:xfrm>
          <a:prstGeom prst="roundRect">
            <a:avLst>
              <a:gd name="adj" fmla="val 93767"/>
            </a:avLst>
          </a:prstGeom>
          <a:solidFill>
            <a:srgbClr val="31569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9" name="Rectángulo 18"/>
          <p:cNvSpPr/>
          <p:nvPr/>
        </p:nvSpPr>
        <p:spPr>
          <a:xfrm>
            <a:off x="2094832" y="3280254"/>
            <a:ext cx="7580987" cy="545050"/>
          </a:xfrm>
          <a:prstGeom prst="rect">
            <a:avLst/>
          </a:prstGeom>
          <a:solidFill>
            <a:srgbClr val="31569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9911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sp>
        <p:nvSpPr>
          <p:cNvPr id="23" name="Título 1"/>
          <p:cNvSpPr txBox="1">
            <a:spLocks/>
          </p:cNvSpPr>
          <p:nvPr/>
        </p:nvSpPr>
        <p:spPr>
          <a:xfrm>
            <a:off x="1560205" y="58694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4. Diseño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del modelo dimensional</a:t>
            </a:r>
            <a:r>
              <a:rPr lang="es-AR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 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560205" y="544391"/>
            <a:ext cx="89757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Construir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un modelo tipo estrella, definiendo la tabla de hechos, sus dimensiones, las claves y las relaciones entre ellas.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205" y="1351102"/>
            <a:ext cx="5043795" cy="4875107"/>
          </a:xfrm>
          <a:prstGeom prst="rect">
            <a:avLst/>
          </a:prstGeom>
        </p:spPr>
      </p:pic>
      <p:grpSp>
        <p:nvGrpSpPr>
          <p:cNvPr id="19" name="Grupo 18"/>
          <p:cNvGrpSpPr/>
          <p:nvPr/>
        </p:nvGrpSpPr>
        <p:grpSpPr>
          <a:xfrm>
            <a:off x="0" y="6445599"/>
            <a:ext cx="12193200" cy="407538"/>
            <a:chOff x="0" y="6080852"/>
            <a:chExt cx="12193200" cy="772285"/>
          </a:xfrm>
        </p:grpSpPr>
        <p:grpSp>
          <p:nvGrpSpPr>
            <p:cNvPr id="20" name="Grupo 19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22" name="Rectángulo 21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4" name="Rectángulo 23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25" name="Rectángulo 24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21" name="Rectángulo 20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806477" y="2257466"/>
            <a:ext cx="4320545" cy="1208402"/>
            <a:chOff x="1267455" y="2985975"/>
            <a:chExt cx="4320545" cy="3647772"/>
          </a:xfrm>
        </p:grpSpPr>
        <p:sp>
          <p:nvSpPr>
            <p:cNvPr id="29" name="Marcador de contenido 2"/>
            <p:cNvSpPr txBox="1">
              <a:spLocks/>
            </p:cNvSpPr>
            <p:nvPr/>
          </p:nvSpPr>
          <p:spPr>
            <a:xfrm>
              <a:off x="1331323" y="3093571"/>
              <a:ext cx="4256677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Creación de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tablas dimensiones (CREATE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TABLE)</a:t>
              </a:r>
              <a:endPara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  <a:sym typeface="Arial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Creación de tabla de hechos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(CREATE TABLE)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Imputar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datos (INSERT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INTO)</a:t>
              </a:r>
              <a:endPara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  <a:sym typeface="Arial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Verificación de las tablas</a:t>
              </a:r>
            </a:p>
          </p:txBody>
        </p:sp>
        <p:sp>
          <p:nvSpPr>
            <p:cNvPr id="31" name="Shape 3"/>
            <p:cNvSpPr/>
            <p:nvPr/>
          </p:nvSpPr>
          <p:spPr>
            <a:xfrm>
              <a:off x="1267455" y="2985975"/>
              <a:ext cx="36000" cy="3647772"/>
            </a:xfrm>
            <a:prstGeom prst="roundRect">
              <a:avLst>
                <a:gd name="adj" fmla="val 93767"/>
              </a:avLst>
            </a:prstGeom>
            <a:solidFill>
              <a:srgbClr val="31569F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ángulo redondeado 36"/>
          <p:cNvSpPr/>
          <p:nvPr/>
        </p:nvSpPr>
        <p:spPr>
          <a:xfrm>
            <a:off x="6417106" y="915276"/>
            <a:ext cx="5165293" cy="5428650"/>
          </a:xfrm>
          <a:prstGeom prst="roundRect">
            <a:avLst>
              <a:gd name="adj" fmla="val 1798"/>
            </a:avLst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8" name="Rectángulo 37"/>
          <p:cNvSpPr/>
          <p:nvPr/>
        </p:nvSpPr>
        <p:spPr>
          <a:xfrm>
            <a:off x="6855992" y="989435"/>
            <a:ext cx="4287520" cy="269304"/>
          </a:xfrm>
          <a:prstGeom prst="rect">
            <a:avLst/>
          </a:prstGeom>
          <a:noFill/>
          <a:ln w="22860">
            <a:noFill/>
            <a:prstDash val="solid"/>
          </a:ln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es-MX" sz="1150" b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Modelo tipo estrella generado</a:t>
            </a:r>
            <a:endParaRPr lang="es-MX" sz="1150" b="1" i="1" dirty="0" smtClean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39" name="Flecha derecha 38"/>
          <p:cNvSpPr/>
          <p:nvPr/>
        </p:nvSpPr>
        <p:spPr>
          <a:xfrm rot="5400000">
            <a:off x="2503424" y="3697068"/>
            <a:ext cx="646652" cy="285119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Rectángulo redondeado 39"/>
          <p:cNvSpPr/>
          <p:nvPr/>
        </p:nvSpPr>
        <p:spPr>
          <a:xfrm>
            <a:off x="1328470" y="4410903"/>
            <a:ext cx="3281680" cy="323493"/>
          </a:xfrm>
          <a:prstGeom prst="roundRect">
            <a:avLst/>
          </a:prstGeom>
          <a:solidFill>
            <a:srgbClr val="E3ECFB"/>
          </a:solidFill>
        </p:spPr>
        <p:txBody>
          <a:bodyPr wrap="square">
            <a:spAutoFit/>
          </a:bodyPr>
          <a:lstStyle/>
          <a:p>
            <a:pPr algn="ctr"/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Ver Código en SQL Server</a:t>
            </a:r>
            <a:endParaRPr lang="es-AR" sz="13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56053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sp>
        <p:nvSpPr>
          <p:cNvPr id="23" name="Título 1"/>
          <p:cNvSpPr txBox="1">
            <a:spLocks/>
          </p:cNvSpPr>
          <p:nvPr/>
        </p:nvSpPr>
        <p:spPr>
          <a:xfrm>
            <a:off x="1560205" y="58694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4. Diseño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del modelo dimensional</a:t>
            </a:r>
            <a:r>
              <a:rPr lang="es-AR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 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560205" y="544391"/>
            <a:ext cx="89757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Construir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un modelo tipo estrella, definiendo la tabla de hechos, sus dimensiones, las claves y las relaciones entre ellas.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0" y="6445599"/>
            <a:ext cx="12193200" cy="407538"/>
            <a:chOff x="0" y="6080852"/>
            <a:chExt cx="12193200" cy="772285"/>
          </a:xfrm>
        </p:grpSpPr>
        <p:grpSp>
          <p:nvGrpSpPr>
            <p:cNvPr id="20" name="Grupo 19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22" name="Rectángulo 21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4" name="Rectángulo 23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25" name="Rectángulo 24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21" name="Rectángulo 20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806477" y="2257466"/>
            <a:ext cx="4320545" cy="1208402"/>
            <a:chOff x="1267455" y="2985975"/>
            <a:chExt cx="4320545" cy="3647772"/>
          </a:xfrm>
        </p:grpSpPr>
        <p:sp>
          <p:nvSpPr>
            <p:cNvPr id="29" name="Marcador de contenido 2"/>
            <p:cNvSpPr txBox="1">
              <a:spLocks/>
            </p:cNvSpPr>
            <p:nvPr/>
          </p:nvSpPr>
          <p:spPr>
            <a:xfrm>
              <a:off x="1331323" y="3093571"/>
              <a:ext cx="4256677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Creación de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tablas dimensiones (CREATE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TABLE)</a:t>
              </a:r>
              <a:endPara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  <a:sym typeface="Arial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Creación de tabla de hechos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(CREATE TABLE)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Imputar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datos (INSERT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INTO)</a:t>
              </a:r>
              <a:endPara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  <a:sym typeface="Arial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Verificación de las tablas</a:t>
              </a:r>
            </a:p>
          </p:txBody>
        </p:sp>
        <p:sp>
          <p:nvSpPr>
            <p:cNvPr id="31" name="Shape 3"/>
            <p:cNvSpPr/>
            <p:nvPr/>
          </p:nvSpPr>
          <p:spPr>
            <a:xfrm>
              <a:off x="1267455" y="2985975"/>
              <a:ext cx="36000" cy="3647772"/>
            </a:xfrm>
            <a:prstGeom prst="roundRect">
              <a:avLst>
                <a:gd name="adj" fmla="val 93767"/>
              </a:avLst>
            </a:prstGeom>
            <a:solidFill>
              <a:srgbClr val="31569F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ángulo redondeado 36"/>
          <p:cNvSpPr/>
          <p:nvPr/>
        </p:nvSpPr>
        <p:spPr>
          <a:xfrm>
            <a:off x="6417106" y="915276"/>
            <a:ext cx="5165293" cy="5428650"/>
          </a:xfrm>
          <a:prstGeom prst="roundRect">
            <a:avLst>
              <a:gd name="adj" fmla="val 1798"/>
            </a:avLst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8" name="Rectángulo 37"/>
          <p:cNvSpPr/>
          <p:nvPr/>
        </p:nvSpPr>
        <p:spPr>
          <a:xfrm>
            <a:off x="6855992" y="989435"/>
            <a:ext cx="4287520" cy="269304"/>
          </a:xfrm>
          <a:prstGeom prst="rect">
            <a:avLst/>
          </a:prstGeom>
          <a:noFill/>
          <a:ln w="22860">
            <a:noFill/>
            <a:prstDash val="solid"/>
          </a:ln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es-MX" sz="1150" b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Comprobación</a:t>
            </a:r>
            <a:endParaRPr lang="es-MX" sz="1150" b="1" i="1" dirty="0" smtClean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39" name="Flecha derecha 38"/>
          <p:cNvSpPr/>
          <p:nvPr/>
        </p:nvSpPr>
        <p:spPr>
          <a:xfrm rot="5400000">
            <a:off x="2503424" y="3697068"/>
            <a:ext cx="646652" cy="285119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Rectángulo redondeado 39"/>
          <p:cNvSpPr/>
          <p:nvPr/>
        </p:nvSpPr>
        <p:spPr>
          <a:xfrm>
            <a:off x="1328470" y="4410903"/>
            <a:ext cx="3281680" cy="323493"/>
          </a:xfrm>
          <a:prstGeom prst="roundRect">
            <a:avLst/>
          </a:prstGeom>
          <a:solidFill>
            <a:srgbClr val="E3ECFB"/>
          </a:solidFill>
        </p:spPr>
        <p:txBody>
          <a:bodyPr wrap="square">
            <a:spAutoFit/>
          </a:bodyPr>
          <a:lstStyle/>
          <a:p>
            <a:pPr algn="ctr"/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Ver Código en SQL Server</a:t>
            </a:r>
            <a:endParaRPr lang="es-AR" sz="13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271" y="1441529"/>
            <a:ext cx="4295090" cy="484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3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sp>
        <p:nvSpPr>
          <p:cNvPr id="23" name="Título 1"/>
          <p:cNvSpPr txBox="1">
            <a:spLocks/>
          </p:cNvSpPr>
          <p:nvPr/>
        </p:nvSpPr>
        <p:spPr>
          <a:xfrm>
            <a:off x="1560205" y="58694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4. Diseño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del modelo dimensional</a:t>
            </a:r>
            <a:r>
              <a:rPr lang="es-AR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 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560205" y="544391"/>
            <a:ext cx="89757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Construir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un modelo tipo estrella, definiendo la tabla de hechos, sus dimensiones, las claves y las relaciones entre ellas.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0" y="6445599"/>
            <a:ext cx="12193200" cy="407538"/>
            <a:chOff x="0" y="6080852"/>
            <a:chExt cx="12193200" cy="772285"/>
          </a:xfrm>
        </p:grpSpPr>
        <p:grpSp>
          <p:nvGrpSpPr>
            <p:cNvPr id="20" name="Grupo 19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22" name="Rectángulo 21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4" name="Rectángulo 23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25" name="Rectángulo 24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21" name="Rectángulo 20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806477" y="2257466"/>
            <a:ext cx="4320545" cy="1208402"/>
            <a:chOff x="1267455" y="2985975"/>
            <a:chExt cx="4320545" cy="3647772"/>
          </a:xfrm>
        </p:grpSpPr>
        <p:sp>
          <p:nvSpPr>
            <p:cNvPr id="29" name="Marcador de contenido 2"/>
            <p:cNvSpPr txBox="1">
              <a:spLocks/>
            </p:cNvSpPr>
            <p:nvPr/>
          </p:nvSpPr>
          <p:spPr>
            <a:xfrm>
              <a:off x="1331323" y="3093571"/>
              <a:ext cx="4256677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Creación de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tablas dimensiones (CREATE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TABLE)</a:t>
              </a:r>
              <a:endParaRPr lang="es-MX" sz="1300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  <a:sym typeface="Arial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Creación de tabla de hechos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(CREATE TABLE)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Imputar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datos (INSERT </a:t>
              </a: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INTO)</a:t>
              </a:r>
              <a:endParaRPr lang="es-MX" sz="1300" dirty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  <a:sym typeface="Arial"/>
              </a:endParaRP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dirty="0" smtClean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Verificación de las tablas</a:t>
              </a:r>
            </a:p>
          </p:txBody>
        </p:sp>
        <p:sp>
          <p:nvSpPr>
            <p:cNvPr id="31" name="Shape 3"/>
            <p:cNvSpPr/>
            <p:nvPr/>
          </p:nvSpPr>
          <p:spPr>
            <a:xfrm>
              <a:off x="1267455" y="2985975"/>
              <a:ext cx="36000" cy="3647772"/>
            </a:xfrm>
            <a:prstGeom prst="roundRect">
              <a:avLst>
                <a:gd name="adj" fmla="val 93767"/>
              </a:avLst>
            </a:prstGeom>
            <a:solidFill>
              <a:srgbClr val="31569F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ángulo redondeado 36"/>
          <p:cNvSpPr/>
          <p:nvPr/>
        </p:nvSpPr>
        <p:spPr>
          <a:xfrm>
            <a:off x="6417106" y="915276"/>
            <a:ext cx="5165293" cy="4571124"/>
          </a:xfrm>
          <a:prstGeom prst="roundRect">
            <a:avLst>
              <a:gd name="adj" fmla="val 1798"/>
            </a:avLst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8" name="Rectángulo 37"/>
          <p:cNvSpPr/>
          <p:nvPr/>
        </p:nvSpPr>
        <p:spPr>
          <a:xfrm>
            <a:off x="6855992" y="989435"/>
            <a:ext cx="4287520" cy="269304"/>
          </a:xfrm>
          <a:prstGeom prst="rect">
            <a:avLst/>
          </a:prstGeom>
          <a:noFill/>
          <a:ln w="22860">
            <a:noFill/>
            <a:prstDash val="solid"/>
          </a:ln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es-MX" sz="1150" b="1" dirty="0" smtClean="0">
                <a:solidFill>
                  <a:srgbClr val="525252"/>
                </a:solidFill>
                <a:latin typeface="Source Sans Pro"/>
                <a:ea typeface="Source Sans Pro"/>
                <a:cs typeface="Source Sans Pro"/>
              </a:rPr>
              <a:t>Comprobación</a:t>
            </a:r>
            <a:endParaRPr lang="es-MX" sz="1150" b="1" i="1" dirty="0" smtClean="0">
              <a:solidFill>
                <a:srgbClr val="525252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39" name="Flecha derecha 38"/>
          <p:cNvSpPr/>
          <p:nvPr/>
        </p:nvSpPr>
        <p:spPr>
          <a:xfrm rot="5400000">
            <a:off x="2503424" y="3697068"/>
            <a:ext cx="646652" cy="285119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Rectángulo redondeado 39"/>
          <p:cNvSpPr/>
          <p:nvPr/>
        </p:nvSpPr>
        <p:spPr>
          <a:xfrm>
            <a:off x="1328470" y="4410903"/>
            <a:ext cx="3281680" cy="323493"/>
          </a:xfrm>
          <a:prstGeom prst="roundRect">
            <a:avLst/>
          </a:prstGeom>
          <a:solidFill>
            <a:srgbClr val="E3ECFB"/>
          </a:solidFill>
        </p:spPr>
        <p:txBody>
          <a:bodyPr wrap="square">
            <a:spAutoFit/>
          </a:bodyPr>
          <a:lstStyle/>
          <a:p>
            <a:pPr algn="ctr"/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Ver Código en SQL Server</a:t>
            </a:r>
            <a:endParaRPr lang="es-AR" sz="13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069" y="1352624"/>
            <a:ext cx="4571365" cy="38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8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4255" y="450903"/>
            <a:ext cx="10756739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Dosis"/>
              </a:rPr>
              <a:t>Desarrollo del </a:t>
            </a: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Source Sans Pro"/>
              </a:rPr>
              <a:t>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44255" y="1188664"/>
            <a:ext cx="8907684" cy="339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300" i="1" dirty="0">
                <a:solidFill>
                  <a:schemeClr val="bg2">
                    <a:lumMod val="50000"/>
                  </a:schemeClr>
                </a:solidFill>
                <a:latin typeface="Source Sans Pro" panose="020B0604020202020204" charset="0"/>
                <a:ea typeface="Source Sans Pro"/>
                <a:cs typeface="PT Serif" panose="020B0604020202020204" charset="0"/>
                <a:sym typeface="Dosis"/>
              </a:rPr>
              <a:t>Cada equipo deberá desarrollar un caso de negocio que contemple los siguientes aspectos</a:t>
            </a:r>
            <a:r>
              <a:rPr lang="es-MX" sz="1300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lang="es-AR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27" name="Grupo 26"/>
          <p:cNvGrpSpPr/>
          <p:nvPr/>
        </p:nvGrpSpPr>
        <p:grpSpPr>
          <a:xfrm>
            <a:off x="1978655" y="1799163"/>
            <a:ext cx="7859211" cy="3647772"/>
            <a:chOff x="1835502" y="1314745"/>
            <a:chExt cx="8616437" cy="3647772"/>
          </a:xfrm>
        </p:grpSpPr>
        <p:sp>
          <p:nvSpPr>
            <p:cNvPr id="5" name="Marcador de contenido 2"/>
            <p:cNvSpPr txBox="1">
              <a:spLocks/>
            </p:cNvSpPr>
            <p:nvPr/>
          </p:nvSpPr>
          <p:spPr>
            <a:xfrm>
              <a:off x="1962873" y="1422341"/>
              <a:ext cx="8489066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Planteamiento del caso de negocio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identificar una problemática empresarial, describir el contexto y definir qué se busca analizar o resolver.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Selección de la fuente de datos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obtener un conjunto de datos pertinente para el caso elegido, documentando su procedencia.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Limpieza y validación de datos: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identificar y tratar valores nulos, registros duplicados, inconsistencias y problemas en los tipos de datos, según corresponda.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Diseño del modelo dimensional: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construir un modelo tipo estrella, definiendo la tabla de hechos, sus dimensiones, las claves y las relaciones entre ellas.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Transformación y análisis con SQL: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desarrollar consultas que permitan preparar los datos, relacionar tablas y generar información útil para el negocio.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AR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Cálculos e indicadores</a:t>
              </a:r>
              <a:r>
                <a:rPr lang="es-AR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implementar las métricas necesarias para responder las preguntas del negocio, tales como montos, cantidades, promedios, porcentajes u otros indicadores relevantes.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Justificación de la solución: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explicar por qué se eligió ese modelo, cómo se desarrolló y de qué manera contribuye a resolver la problemática identificada.</a:t>
              </a:r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1835502" y="1314745"/>
              <a:ext cx="8616437" cy="3647771"/>
            </a:xfrm>
            <a:prstGeom prst="roundRect">
              <a:avLst>
                <a:gd name="adj" fmla="val 2115"/>
              </a:avLst>
            </a:prstGeom>
            <a:noFill/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</p:grpSp>
      <p:sp>
        <p:nvSpPr>
          <p:cNvPr id="28" name="Shape 3"/>
          <p:cNvSpPr/>
          <p:nvPr/>
        </p:nvSpPr>
        <p:spPr>
          <a:xfrm>
            <a:off x="1978655" y="1799163"/>
            <a:ext cx="58706" cy="3647772"/>
          </a:xfrm>
          <a:prstGeom prst="roundRect">
            <a:avLst>
              <a:gd name="adj" fmla="val 93767"/>
            </a:avLst>
          </a:prstGeom>
          <a:solidFill>
            <a:srgbClr val="31569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9" name="Rectángulo 18"/>
          <p:cNvSpPr/>
          <p:nvPr/>
        </p:nvSpPr>
        <p:spPr>
          <a:xfrm>
            <a:off x="2117766" y="3763333"/>
            <a:ext cx="7580987" cy="545050"/>
          </a:xfrm>
          <a:prstGeom prst="rect">
            <a:avLst/>
          </a:prstGeom>
          <a:solidFill>
            <a:srgbClr val="31569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150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sp>
        <p:nvSpPr>
          <p:cNvPr id="23" name="Título 1"/>
          <p:cNvSpPr txBox="1">
            <a:spLocks/>
          </p:cNvSpPr>
          <p:nvPr/>
        </p:nvSpPr>
        <p:spPr>
          <a:xfrm>
            <a:off x="1560205" y="58694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5</a:t>
            </a: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.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Transformación y análisis con SQL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560205" y="544391"/>
            <a:ext cx="89757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Construir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un modelo tipo estrella, definiendo la tabla de hechos, sus dimensiones, las claves y las relaciones entre ellas.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0" y="6445599"/>
            <a:ext cx="12193200" cy="407538"/>
            <a:chOff x="0" y="6080852"/>
            <a:chExt cx="12193200" cy="772285"/>
          </a:xfrm>
        </p:grpSpPr>
        <p:grpSp>
          <p:nvGrpSpPr>
            <p:cNvPr id="20" name="Grupo 19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22" name="Rectángulo 21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4" name="Rectángulo 23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25" name="Rectángulo 24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21" name="Rectángulo 20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643916" y="1096139"/>
            <a:ext cx="5098049" cy="2088952"/>
            <a:chOff x="459472" y="1088512"/>
            <a:chExt cx="5098049" cy="2088952"/>
          </a:xfrm>
        </p:grpSpPr>
        <p:sp>
          <p:nvSpPr>
            <p:cNvPr id="11" name="Rectángulo redondeado 10"/>
            <p:cNvSpPr/>
            <p:nvPr/>
          </p:nvSpPr>
          <p:spPr>
            <a:xfrm>
              <a:off x="459472" y="1088512"/>
              <a:ext cx="5098049" cy="2088952"/>
            </a:xfrm>
            <a:prstGeom prst="roundRect">
              <a:avLst>
                <a:gd name="adj" fmla="val 7408"/>
              </a:avLst>
            </a:prstGeom>
            <a:solidFill>
              <a:srgbClr val="F8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698813" y="1435951"/>
              <a:ext cx="4619366" cy="1409801"/>
            </a:xfrm>
            <a:prstGeom prst="roundRect">
              <a:avLst>
                <a:gd name="adj" fmla="val 7716"/>
              </a:avLst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600" b="1" dirty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Tema </a:t>
              </a:r>
              <a:r>
                <a:rPr lang="es-MX" sz="1600" b="1" dirty="0" smtClean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01</a:t>
              </a:r>
              <a:endParaRPr lang="es-MX" sz="1600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Distribución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 las </a:t>
              </a: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transacciones</a:t>
              </a:r>
              <a:endPara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Pregunta: 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¿Cómo </a:t>
              </a:r>
              <a:r>
                <a:rPr lang="es-MX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se distribuyen el número y el importe de las transacciones por fecha, 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hora</a:t>
              </a:r>
              <a:r>
                <a:rPr lang="es-MX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, país, ciudad, método de pago, dispositivo y categoría de comercio?</a:t>
              </a:r>
              <a:endParaRPr lang="es-A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643917" y="3404481"/>
            <a:ext cx="5098049" cy="2088952"/>
            <a:chOff x="428992" y="3407136"/>
            <a:chExt cx="5098049" cy="2088952"/>
          </a:xfrm>
        </p:grpSpPr>
        <p:sp>
          <p:nvSpPr>
            <p:cNvPr id="35" name="Rectángulo redondeado 34"/>
            <p:cNvSpPr/>
            <p:nvPr/>
          </p:nvSpPr>
          <p:spPr>
            <a:xfrm>
              <a:off x="428992" y="3407136"/>
              <a:ext cx="5098049" cy="2088952"/>
            </a:xfrm>
            <a:prstGeom prst="roundRect">
              <a:avLst>
                <a:gd name="adj" fmla="val 7408"/>
              </a:avLst>
            </a:prstGeom>
            <a:solidFill>
              <a:srgbClr val="F8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3" name="Rectángulo redondeado 32"/>
            <p:cNvSpPr/>
            <p:nvPr/>
          </p:nvSpPr>
          <p:spPr>
            <a:xfrm>
              <a:off x="668333" y="3507749"/>
              <a:ext cx="4619366" cy="1679933"/>
            </a:xfrm>
            <a:prstGeom prst="roundRect">
              <a:avLst>
                <a:gd name="adj" fmla="val 7716"/>
              </a:avLst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600" b="1" dirty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Tema </a:t>
              </a:r>
              <a:r>
                <a:rPr lang="es-MX" sz="1600" b="1" dirty="0" smtClean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03</a:t>
              </a:r>
              <a:endParaRPr lang="es-MX" sz="1600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Relación con las señales de riesgo </a:t>
              </a:r>
              <a:endParaRPr lang="es-MX" sz="1300" b="1" dirty="0" smtClean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Pregunta: 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¿Cómo se relacionan, dentro del conjunto, las etiquetas con los intentos fallidos, las operaciones internacionales, el horario, la distancia y los cambios recientes de PIN? </a:t>
              </a:r>
              <a:endParaRPr lang="es-MX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6048062" y="1068459"/>
            <a:ext cx="5098049" cy="2088952"/>
            <a:chOff x="6342111" y="1024022"/>
            <a:chExt cx="5098049" cy="2088952"/>
          </a:xfrm>
        </p:grpSpPr>
        <p:sp>
          <p:nvSpPr>
            <p:cNvPr id="41" name="Rectángulo redondeado 40"/>
            <p:cNvSpPr/>
            <p:nvPr/>
          </p:nvSpPr>
          <p:spPr>
            <a:xfrm>
              <a:off x="6342111" y="1024022"/>
              <a:ext cx="5098049" cy="2088952"/>
            </a:xfrm>
            <a:prstGeom prst="roundRect">
              <a:avLst>
                <a:gd name="adj" fmla="val 7408"/>
              </a:avLst>
            </a:prstGeom>
            <a:solidFill>
              <a:srgbClr val="F8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2" name="Rectángulo redondeado 31"/>
            <p:cNvSpPr/>
            <p:nvPr/>
          </p:nvSpPr>
          <p:spPr>
            <a:xfrm>
              <a:off x="6469322" y="1391277"/>
              <a:ext cx="4706523" cy="1409801"/>
            </a:xfrm>
            <a:prstGeom prst="roundRect">
              <a:avLst>
                <a:gd name="adj" fmla="val 7716"/>
              </a:avLst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600" b="1" dirty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Tema </a:t>
              </a:r>
              <a:r>
                <a:rPr lang="es-MX" sz="1600" b="1" dirty="0" smtClean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02</a:t>
              </a:r>
              <a:endParaRPr lang="es-MX" sz="1600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Comparación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entre </a:t>
              </a: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transacciones, fraudes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vs legitimas</a:t>
              </a: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Pregunta: </a:t>
              </a:r>
              <a:r>
                <a:rPr lang="es-MX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¿Qué diferencias descriptivas hay entre las transacciones etiquetadas como fraude y las etiquetadas como legítimas?</a:t>
              </a: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6096600" y="3370392"/>
            <a:ext cx="5098049" cy="2088952"/>
            <a:chOff x="6342112" y="3397373"/>
            <a:chExt cx="5098049" cy="2088952"/>
          </a:xfrm>
        </p:grpSpPr>
        <p:sp>
          <p:nvSpPr>
            <p:cNvPr id="36" name="Rectángulo redondeado 35"/>
            <p:cNvSpPr/>
            <p:nvPr/>
          </p:nvSpPr>
          <p:spPr>
            <a:xfrm>
              <a:off x="6342112" y="3397373"/>
              <a:ext cx="5098049" cy="2088952"/>
            </a:xfrm>
            <a:prstGeom prst="roundRect">
              <a:avLst>
                <a:gd name="adj" fmla="val 7408"/>
              </a:avLst>
            </a:prstGeom>
            <a:solidFill>
              <a:srgbClr val="F8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4" name="Rectángulo redondeado 33"/>
            <p:cNvSpPr/>
            <p:nvPr/>
          </p:nvSpPr>
          <p:spPr>
            <a:xfrm>
              <a:off x="6446914" y="3551647"/>
              <a:ext cx="4791368" cy="1719894"/>
            </a:xfrm>
            <a:prstGeom prst="roundRect">
              <a:avLst>
                <a:gd name="adj" fmla="val 7716"/>
              </a:avLst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600" b="1" dirty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Tema </a:t>
              </a:r>
              <a:r>
                <a:rPr lang="es-MX" sz="1600" b="1" dirty="0" smtClean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04</a:t>
              </a:r>
              <a:endParaRPr lang="es-MX" sz="1600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Clientes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y segmentos con más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actividad</a:t>
              </a: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Pregunta: 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¿</a:t>
              </a:r>
              <a:r>
                <a:rPr lang="es-MX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Qué clientes o segmentos concentran más actividad o importe, y qué cambia al comparar cantidades absolutas con promedios y porcentajes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?</a:t>
              </a: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endParaRPr lang="es-MX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507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4255" y="450903"/>
            <a:ext cx="10756739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Dosis"/>
              </a:rPr>
              <a:t>Desarrollo del </a:t>
            </a: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Source Sans Pro"/>
              </a:rPr>
              <a:t>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44255" y="1188664"/>
            <a:ext cx="8907684" cy="339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300" i="1" dirty="0">
                <a:solidFill>
                  <a:schemeClr val="bg2">
                    <a:lumMod val="50000"/>
                  </a:schemeClr>
                </a:solidFill>
                <a:latin typeface="Source Sans Pro" panose="020B0604020202020204" charset="0"/>
                <a:ea typeface="Source Sans Pro"/>
                <a:cs typeface="PT Serif" panose="020B0604020202020204" charset="0"/>
                <a:sym typeface="Dosis"/>
              </a:rPr>
              <a:t>Cada equipo deberá desarrollar un caso de negocio que contemple los siguientes aspectos</a:t>
            </a:r>
            <a:r>
              <a:rPr lang="es-MX" sz="1300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lang="es-AR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27" name="Grupo 26"/>
          <p:cNvGrpSpPr/>
          <p:nvPr/>
        </p:nvGrpSpPr>
        <p:grpSpPr>
          <a:xfrm>
            <a:off x="1978655" y="1799163"/>
            <a:ext cx="7859211" cy="3647772"/>
            <a:chOff x="1835502" y="1314745"/>
            <a:chExt cx="8616437" cy="3647772"/>
          </a:xfrm>
        </p:grpSpPr>
        <p:sp>
          <p:nvSpPr>
            <p:cNvPr id="5" name="Marcador de contenido 2"/>
            <p:cNvSpPr txBox="1">
              <a:spLocks/>
            </p:cNvSpPr>
            <p:nvPr/>
          </p:nvSpPr>
          <p:spPr>
            <a:xfrm>
              <a:off x="1962873" y="1422341"/>
              <a:ext cx="8489066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Planteamiento del caso de negocio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identificar una problemática empresarial, describir el contexto y definir qué se busca analizar o resolver.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Selección de la fuente de datos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obtener un conjunto de datos pertinente para el caso elegido, documentando su procedencia.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Limpieza y validación de datos: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identificar y tratar valores nulos, registros duplicados, inconsistencias y problemas en los tipos de datos, según corresponda.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Diseño del modelo dimensional: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construir un modelo tipo estrella, definiendo la tabla de hechos, sus dimensiones, las claves y las relaciones entre ellas.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Transformación y análisis con SQL: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desarrollar consultas que permitan preparar los datos, relacionar tablas y generar información útil para el negocio.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AR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Cálculos e indicadores</a:t>
              </a:r>
              <a:r>
                <a:rPr lang="es-AR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implementar las métricas necesarias para responder las preguntas del negocio, tales como montos, cantidades, promedios, porcentajes u otros indicadores relevantes.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Justificación de la solución: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explicar por qué se eligió ese modelo, cómo se desarrolló y de qué manera contribuye a resolver la problemática identificada.</a:t>
              </a:r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1835502" y="1314745"/>
              <a:ext cx="8616437" cy="3647771"/>
            </a:xfrm>
            <a:prstGeom prst="roundRect">
              <a:avLst>
                <a:gd name="adj" fmla="val 2115"/>
              </a:avLst>
            </a:prstGeom>
            <a:noFill/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</p:grpSp>
      <p:sp>
        <p:nvSpPr>
          <p:cNvPr id="28" name="Shape 3"/>
          <p:cNvSpPr/>
          <p:nvPr/>
        </p:nvSpPr>
        <p:spPr>
          <a:xfrm>
            <a:off x="1978655" y="1799163"/>
            <a:ext cx="58706" cy="3647772"/>
          </a:xfrm>
          <a:prstGeom prst="roundRect">
            <a:avLst>
              <a:gd name="adj" fmla="val 93767"/>
            </a:avLst>
          </a:prstGeom>
          <a:solidFill>
            <a:srgbClr val="31569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9" name="Rectángulo 18"/>
          <p:cNvSpPr/>
          <p:nvPr/>
        </p:nvSpPr>
        <p:spPr>
          <a:xfrm>
            <a:off x="2094832" y="4220533"/>
            <a:ext cx="7580987" cy="545050"/>
          </a:xfrm>
          <a:prstGeom prst="rect">
            <a:avLst/>
          </a:prstGeom>
          <a:solidFill>
            <a:srgbClr val="31569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856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sp>
        <p:nvSpPr>
          <p:cNvPr id="23" name="Título 1"/>
          <p:cNvSpPr txBox="1">
            <a:spLocks/>
          </p:cNvSpPr>
          <p:nvPr/>
        </p:nvSpPr>
        <p:spPr>
          <a:xfrm>
            <a:off x="1560205" y="58694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6. Cálculos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e indicadores</a:t>
            </a: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: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560205" y="544391"/>
            <a:ext cx="8975715" cy="67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I</a:t>
            </a: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mplementar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las métricas necesarias para responder las preguntas del negocio, tales como montos, cantidades, promedios, porcentajes u otros indicadores relevantes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 </a:t>
            </a:r>
            <a:endParaRPr lang="es-MX" sz="12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0" y="6445599"/>
            <a:ext cx="12193200" cy="407538"/>
            <a:chOff x="0" y="6080852"/>
            <a:chExt cx="12193200" cy="772285"/>
          </a:xfrm>
        </p:grpSpPr>
        <p:grpSp>
          <p:nvGrpSpPr>
            <p:cNvPr id="20" name="Grupo 19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22" name="Rectángulo 21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4" name="Rectángulo 23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25" name="Rectángulo 24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21" name="Rectángulo 20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643916" y="1096139"/>
            <a:ext cx="5098049" cy="2088952"/>
            <a:chOff x="459472" y="1088512"/>
            <a:chExt cx="5098049" cy="2088952"/>
          </a:xfrm>
        </p:grpSpPr>
        <p:sp>
          <p:nvSpPr>
            <p:cNvPr id="11" name="Rectángulo redondeado 10"/>
            <p:cNvSpPr/>
            <p:nvPr/>
          </p:nvSpPr>
          <p:spPr>
            <a:xfrm>
              <a:off x="459472" y="1088512"/>
              <a:ext cx="5098049" cy="2088952"/>
            </a:xfrm>
            <a:prstGeom prst="roundRect">
              <a:avLst>
                <a:gd name="adj" fmla="val 7408"/>
              </a:avLst>
            </a:prstGeom>
            <a:solidFill>
              <a:srgbClr val="F8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698813" y="1435951"/>
              <a:ext cx="4619366" cy="1409801"/>
            </a:xfrm>
            <a:prstGeom prst="roundRect">
              <a:avLst>
                <a:gd name="adj" fmla="val 7716"/>
              </a:avLst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600" b="1" dirty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Tema </a:t>
              </a:r>
              <a:r>
                <a:rPr lang="es-MX" sz="1600" b="1" dirty="0" smtClean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01</a:t>
              </a:r>
              <a:endParaRPr lang="es-MX" sz="1600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Distribución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 las </a:t>
              </a: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transacciones</a:t>
              </a:r>
              <a:endPara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Pregunta: 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¿Cómo </a:t>
              </a:r>
              <a:r>
                <a:rPr lang="es-MX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se distribuyen el número y el importe de las transacciones por fecha, 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hora</a:t>
              </a:r>
              <a:r>
                <a:rPr lang="es-MX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, país, ciudad, método de pago, dispositivo y categoría de comercio?</a:t>
              </a:r>
              <a:endParaRPr lang="es-A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643917" y="3404481"/>
            <a:ext cx="5098049" cy="2088952"/>
            <a:chOff x="428992" y="3407136"/>
            <a:chExt cx="5098049" cy="2088952"/>
          </a:xfrm>
        </p:grpSpPr>
        <p:sp>
          <p:nvSpPr>
            <p:cNvPr id="35" name="Rectángulo redondeado 34"/>
            <p:cNvSpPr/>
            <p:nvPr/>
          </p:nvSpPr>
          <p:spPr>
            <a:xfrm>
              <a:off x="428992" y="3407136"/>
              <a:ext cx="5098049" cy="2088952"/>
            </a:xfrm>
            <a:prstGeom prst="roundRect">
              <a:avLst>
                <a:gd name="adj" fmla="val 7408"/>
              </a:avLst>
            </a:prstGeom>
            <a:solidFill>
              <a:srgbClr val="F8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3" name="Rectángulo redondeado 32"/>
            <p:cNvSpPr/>
            <p:nvPr/>
          </p:nvSpPr>
          <p:spPr>
            <a:xfrm>
              <a:off x="668333" y="3507749"/>
              <a:ext cx="4619366" cy="1679933"/>
            </a:xfrm>
            <a:prstGeom prst="roundRect">
              <a:avLst>
                <a:gd name="adj" fmla="val 7716"/>
              </a:avLst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600" b="1" dirty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Tema </a:t>
              </a:r>
              <a:r>
                <a:rPr lang="es-MX" sz="1600" b="1" dirty="0" smtClean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03</a:t>
              </a:r>
              <a:endParaRPr lang="es-MX" sz="1600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Relación con las señales de riesgo </a:t>
              </a:r>
              <a:endParaRPr lang="es-MX" sz="1300" b="1" dirty="0" smtClean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Pregunta: 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¿Cómo se relacionan, dentro del conjunto, las etiquetas con los intentos fallidos, las operaciones internacionales, el horario, la distancia y los cambios recientes de PIN? </a:t>
              </a:r>
              <a:endParaRPr lang="es-MX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6048062" y="1068459"/>
            <a:ext cx="5098049" cy="2088952"/>
            <a:chOff x="6342111" y="1024022"/>
            <a:chExt cx="5098049" cy="2088952"/>
          </a:xfrm>
        </p:grpSpPr>
        <p:sp>
          <p:nvSpPr>
            <p:cNvPr id="41" name="Rectángulo redondeado 40"/>
            <p:cNvSpPr/>
            <p:nvPr/>
          </p:nvSpPr>
          <p:spPr>
            <a:xfrm>
              <a:off x="6342111" y="1024022"/>
              <a:ext cx="5098049" cy="2088952"/>
            </a:xfrm>
            <a:prstGeom prst="roundRect">
              <a:avLst>
                <a:gd name="adj" fmla="val 7408"/>
              </a:avLst>
            </a:prstGeom>
            <a:solidFill>
              <a:srgbClr val="F8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2" name="Rectángulo redondeado 31"/>
            <p:cNvSpPr/>
            <p:nvPr/>
          </p:nvSpPr>
          <p:spPr>
            <a:xfrm>
              <a:off x="6469322" y="1391277"/>
              <a:ext cx="4706523" cy="1409801"/>
            </a:xfrm>
            <a:prstGeom prst="roundRect">
              <a:avLst>
                <a:gd name="adj" fmla="val 7716"/>
              </a:avLst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600" b="1" dirty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Tema </a:t>
              </a:r>
              <a:r>
                <a:rPr lang="es-MX" sz="1600" b="1" dirty="0" smtClean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02</a:t>
              </a:r>
              <a:endParaRPr lang="es-MX" sz="1600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Comparación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entre </a:t>
              </a: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transacciones, fraudes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vs legitimas</a:t>
              </a: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Pregunta: </a:t>
              </a:r>
              <a:r>
                <a:rPr lang="es-MX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¿Qué diferencias descriptivas hay entre las transacciones etiquetadas como fraude y las etiquetadas como legítimas?</a:t>
              </a: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6096600" y="3370392"/>
            <a:ext cx="5098049" cy="2088952"/>
            <a:chOff x="6342112" y="3397373"/>
            <a:chExt cx="5098049" cy="2088952"/>
          </a:xfrm>
        </p:grpSpPr>
        <p:sp>
          <p:nvSpPr>
            <p:cNvPr id="36" name="Rectángulo redondeado 35"/>
            <p:cNvSpPr/>
            <p:nvPr/>
          </p:nvSpPr>
          <p:spPr>
            <a:xfrm>
              <a:off x="6342112" y="3397373"/>
              <a:ext cx="5098049" cy="2088952"/>
            </a:xfrm>
            <a:prstGeom prst="roundRect">
              <a:avLst>
                <a:gd name="adj" fmla="val 7408"/>
              </a:avLst>
            </a:prstGeom>
            <a:solidFill>
              <a:srgbClr val="F8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4" name="Rectángulo redondeado 33"/>
            <p:cNvSpPr/>
            <p:nvPr/>
          </p:nvSpPr>
          <p:spPr>
            <a:xfrm>
              <a:off x="6446914" y="3551647"/>
              <a:ext cx="4791368" cy="1719894"/>
            </a:xfrm>
            <a:prstGeom prst="roundRect">
              <a:avLst>
                <a:gd name="adj" fmla="val 7716"/>
              </a:avLst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1600" b="1" dirty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Tema </a:t>
              </a:r>
              <a:r>
                <a:rPr lang="es-MX" sz="1600" b="1" dirty="0" smtClean="0">
                  <a:solidFill>
                    <a:srgbClr val="243F76"/>
                  </a:solidFill>
                  <a:latin typeface="Source Sans Pro"/>
                  <a:ea typeface="Source Sans Pro"/>
                  <a:cs typeface="Source Sans Pro"/>
                </a:rPr>
                <a:t>04</a:t>
              </a:r>
              <a:endParaRPr lang="es-MX" sz="1600" b="1" dirty="0">
                <a:solidFill>
                  <a:srgbClr val="243F76"/>
                </a:solidFill>
                <a:latin typeface="Source Sans Pro"/>
                <a:ea typeface="Source Sans Pro"/>
                <a:cs typeface="Source Sans Pro"/>
              </a:endParaRPr>
            </a:p>
            <a:p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Clientes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y segmentos con más </a:t>
              </a:r>
              <a:r>
                <a:rPr lang="es-MX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actividad</a:t>
              </a: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r>
                <a:rPr lang="es-MX" sz="13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Pregunta: 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¿</a:t>
              </a:r>
              <a:r>
                <a:rPr lang="es-MX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Qué clientes o segmentos concentran más actividad o importe, y qué cambia al comparar cantidades absolutas con promedios y porcentajes</a:t>
              </a:r>
              <a:r>
                <a:rPr lang="es-MX" sz="13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?</a:t>
              </a:r>
            </a:p>
            <a:p>
              <a:pPr algn="just">
                <a:lnSpc>
                  <a:spcPct val="130000"/>
                </a:lnSpc>
                <a:spcBef>
                  <a:spcPts val="300"/>
                </a:spcBef>
              </a:pPr>
              <a:endParaRPr lang="es-MX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</p:txBody>
        </p:sp>
      </p:grpSp>
      <p:sp>
        <p:nvSpPr>
          <p:cNvPr id="27" name="Flecha derecha 26"/>
          <p:cNvSpPr/>
          <p:nvPr/>
        </p:nvSpPr>
        <p:spPr>
          <a:xfrm rot="5400000">
            <a:off x="5692711" y="5639052"/>
            <a:ext cx="425582" cy="285119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Rectángulo redondeado 27"/>
          <p:cNvSpPr/>
          <p:nvPr/>
        </p:nvSpPr>
        <p:spPr>
          <a:xfrm>
            <a:off x="4407222" y="6041536"/>
            <a:ext cx="3281680" cy="323493"/>
          </a:xfrm>
          <a:prstGeom prst="roundRect">
            <a:avLst/>
          </a:prstGeom>
          <a:solidFill>
            <a:srgbClr val="E3ECFB"/>
          </a:solidFill>
        </p:spPr>
        <p:txBody>
          <a:bodyPr wrap="square">
            <a:spAutoFit/>
          </a:bodyPr>
          <a:lstStyle/>
          <a:p>
            <a:pPr algn="ctr"/>
            <a:r>
              <a: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rPr>
              <a:t>Ver Código en SQL Server</a:t>
            </a:r>
            <a:endParaRPr lang="es-AR" sz="13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84222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4255" y="450903"/>
            <a:ext cx="10756739" cy="57380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Dosis"/>
              </a:rPr>
              <a:t>Desarrollo del </a:t>
            </a:r>
            <a:r>
              <a:rPr lang="es-AR" sz="3500" dirty="0">
                <a:solidFill>
                  <a:srgbClr val="243F76"/>
                </a:solidFill>
                <a:latin typeface="Dosis"/>
                <a:ea typeface="Dosis"/>
                <a:cs typeface="Dosis"/>
                <a:sym typeface="Source Sans Pro"/>
              </a:rPr>
              <a:t>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44255" y="1188664"/>
            <a:ext cx="8907684" cy="339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300" i="1" dirty="0">
                <a:solidFill>
                  <a:schemeClr val="bg2">
                    <a:lumMod val="50000"/>
                  </a:schemeClr>
                </a:solidFill>
                <a:latin typeface="Source Sans Pro" panose="020B0604020202020204" charset="0"/>
                <a:ea typeface="Source Sans Pro"/>
                <a:cs typeface="PT Serif" panose="020B0604020202020204" charset="0"/>
                <a:sym typeface="Dosis"/>
              </a:rPr>
              <a:t>Cada equipo deberá desarrollar un caso de negocio que contemple los siguientes aspectos</a:t>
            </a:r>
            <a:r>
              <a:rPr lang="es-MX" sz="1300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lang="es-AR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grpSp>
        <p:nvGrpSpPr>
          <p:cNvPr id="27" name="Grupo 26"/>
          <p:cNvGrpSpPr/>
          <p:nvPr/>
        </p:nvGrpSpPr>
        <p:grpSpPr>
          <a:xfrm>
            <a:off x="1978655" y="1799163"/>
            <a:ext cx="7859211" cy="3647772"/>
            <a:chOff x="1835502" y="1314745"/>
            <a:chExt cx="8616437" cy="3647772"/>
          </a:xfrm>
        </p:grpSpPr>
        <p:sp>
          <p:nvSpPr>
            <p:cNvPr id="5" name="Marcador de contenido 2"/>
            <p:cNvSpPr txBox="1">
              <a:spLocks/>
            </p:cNvSpPr>
            <p:nvPr/>
          </p:nvSpPr>
          <p:spPr>
            <a:xfrm>
              <a:off x="1962873" y="1422341"/>
              <a:ext cx="8489066" cy="354017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Planteamiento del caso de negocio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identificar una problemática empresarial, describir el contexto y definir qué se busca analizar o resolver.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Selección de la fuente de datos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obtener un conjunto de datos pertinente para el caso elegido, documentando su procedencia.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Limpieza y validación de datos: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identificar y tratar valores nulos, registros duplicados, inconsistencias y problemas en los tipos de datos, según corresponda.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Diseño del modelo dimensional: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construir un modelo tipo estrella, definiendo la tabla de hechos, sus dimensiones, las claves y las relaciones entre ellas.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Transformación y análisis con SQL: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desarrollar consultas que permitan preparar los datos, relacionar tablas y generar información útil para el negocio.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AR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Cálculos e indicadores</a:t>
              </a:r>
              <a:r>
                <a:rPr lang="es-AR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: implementar las métricas necesarias para responder las preguntas del negocio, tales como montos, cantidades, promedios, porcentajes u otros indicadores relevantes.</a:t>
              </a:r>
            </a:p>
            <a:p>
              <a:pPr marL="342900" indent="-342900">
                <a:lnSpc>
                  <a:spcPct val="100000"/>
                </a:lnSpc>
                <a:spcBef>
                  <a:spcPts val="600"/>
                </a:spcBef>
                <a:buClr>
                  <a:srgbClr val="000000"/>
                </a:buClr>
                <a:buFont typeface="Arial"/>
                <a:buAutoNum type="arabicPeriod"/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Justificación de la solución: </a:t>
              </a:r>
              <a:r>
                <a:rPr lang="es-MX" sz="1300" dirty="0">
                  <a:solidFill>
                    <a:srgbClr val="525252"/>
                  </a:solidFill>
                  <a:latin typeface="Source Sans Pro"/>
                  <a:ea typeface="Source Sans Pro"/>
                  <a:cs typeface="Source Sans Pro"/>
                  <a:sym typeface="Arial"/>
                </a:rPr>
                <a:t>explicar por qué se eligió ese modelo, cómo se desarrolló y de qué manera contribuye a resolver la problemática identificada.</a:t>
              </a:r>
            </a:p>
          </p:txBody>
        </p:sp>
        <p:sp>
          <p:nvSpPr>
            <p:cNvPr id="26" name="Rectángulo redondeado 25"/>
            <p:cNvSpPr/>
            <p:nvPr/>
          </p:nvSpPr>
          <p:spPr>
            <a:xfrm>
              <a:off x="1835502" y="1314745"/>
              <a:ext cx="8616437" cy="3647771"/>
            </a:xfrm>
            <a:prstGeom prst="roundRect">
              <a:avLst>
                <a:gd name="adj" fmla="val 2115"/>
              </a:avLst>
            </a:prstGeom>
            <a:noFill/>
            <a:ln w="63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sz="1200"/>
            </a:p>
          </p:txBody>
        </p:sp>
      </p:grpSp>
      <p:sp>
        <p:nvSpPr>
          <p:cNvPr id="28" name="Shape 3"/>
          <p:cNvSpPr/>
          <p:nvPr/>
        </p:nvSpPr>
        <p:spPr>
          <a:xfrm>
            <a:off x="1978655" y="1799163"/>
            <a:ext cx="58706" cy="3647772"/>
          </a:xfrm>
          <a:prstGeom prst="roundRect">
            <a:avLst>
              <a:gd name="adj" fmla="val 93767"/>
            </a:avLst>
          </a:prstGeom>
          <a:solidFill>
            <a:srgbClr val="31569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pSp>
        <p:nvGrpSpPr>
          <p:cNvPr id="13" name="Grupo 12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4" name="Grupo 13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6" name="Rectángulo 15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5" name="Rectángulo 14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9" name="Rectángulo 18"/>
          <p:cNvSpPr/>
          <p:nvPr/>
        </p:nvSpPr>
        <p:spPr>
          <a:xfrm>
            <a:off x="2094832" y="4718315"/>
            <a:ext cx="7661643" cy="545050"/>
          </a:xfrm>
          <a:prstGeom prst="rect">
            <a:avLst/>
          </a:prstGeom>
          <a:solidFill>
            <a:srgbClr val="31569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756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230"/>
            <a:ext cx="1033191" cy="406907"/>
          </a:xfrm>
          <a:prstGeom prst="rect">
            <a:avLst/>
          </a:prstGeom>
        </p:spPr>
      </p:pic>
      <p:sp>
        <p:nvSpPr>
          <p:cNvPr id="23" name="Título 1"/>
          <p:cNvSpPr txBox="1">
            <a:spLocks/>
          </p:cNvSpPr>
          <p:nvPr/>
        </p:nvSpPr>
        <p:spPr>
          <a:xfrm>
            <a:off x="1560205" y="275197"/>
            <a:ext cx="9230137" cy="57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4800"/>
            </a:pP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7. Justificación </a:t>
            </a:r>
            <a:r>
              <a:rPr lang="es-MX" sz="2500" b="1" dirty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de la </a:t>
            </a:r>
            <a:r>
              <a:rPr lang="es-MX" sz="2500" b="1" dirty="0" smtClean="0">
                <a:solidFill>
                  <a:schemeClr val="bg2">
                    <a:lumMod val="25000"/>
                  </a:schemeClr>
                </a:solidFill>
                <a:latin typeface="Dosis"/>
                <a:ea typeface="Dosis"/>
                <a:cs typeface="Dosis"/>
                <a:sym typeface="Source Sans Pro"/>
              </a:rPr>
              <a:t>solución </a:t>
            </a:r>
            <a:endParaRPr lang="es-AR" sz="2500" b="1" dirty="0">
              <a:solidFill>
                <a:schemeClr val="bg2">
                  <a:lumMod val="25000"/>
                </a:schemeClr>
              </a:solidFill>
              <a:latin typeface="Dosis"/>
              <a:ea typeface="Dosis"/>
              <a:cs typeface="Dosis"/>
              <a:sym typeface="Source Sans Pro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560205" y="906311"/>
            <a:ext cx="8975715" cy="487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Explicar 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por qué se eligió ese modelo, cómo se desarrolló y de qué manera contribuye a resolver la problemática identificada.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31569F"/>
              </a:buClr>
              <a:buSzPct val="150000"/>
            </a:pPr>
            <a:r>
              <a:rPr lang="es-MX" sz="12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  <a:sym typeface="Arial"/>
              </a:rPr>
              <a:t> </a:t>
            </a:r>
            <a:endParaRPr lang="es-MX" sz="1200" dirty="0">
              <a:solidFill>
                <a:schemeClr val="bg2">
                  <a:lumMod val="25000"/>
                </a:schemeClr>
              </a:solidFill>
              <a:latin typeface="Source Sans Pro"/>
              <a:ea typeface="Source Sans Pro"/>
              <a:cs typeface="Source Sans Pro"/>
              <a:sym typeface="Arial"/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0" y="6445599"/>
            <a:ext cx="12193200" cy="407538"/>
            <a:chOff x="0" y="6080852"/>
            <a:chExt cx="12193200" cy="772285"/>
          </a:xfrm>
        </p:grpSpPr>
        <p:grpSp>
          <p:nvGrpSpPr>
            <p:cNvPr id="20" name="Grupo 19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22" name="Rectángulo 21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24" name="Rectángulo 23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25" name="Rectángulo 24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21" name="Rectángulo 20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1245244" y="1435516"/>
            <a:ext cx="10103476" cy="4254083"/>
            <a:chOff x="1539293" y="1391079"/>
            <a:chExt cx="10103476" cy="4254083"/>
          </a:xfrm>
        </p:grpSpPr>
        <p:sp>
          <p:nvSpPr>
            <p:cNvPr id="41" name="Rectángulo redondeado 40"/>
            <p:cNvSpPr/>
            <p:nvPr/>
          </p:nvSpPr>
          <p:spPr>
            <a:xfrm>
              <a:off x="1539293" y="1391079"/>
              <a:ext cx="10103476" cy="4254083"/>
            </a:xfrm>
            <a:prstGeom prst="roundRect">
              <a:avLst>
                <a:gd name="adj" fmla="val 7408"/>
              </a:avLst>
            </a:prstGeom>
            <a:solidFill>
              <a:srgbClr val="F8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2" name="Rectángulo redondeado 31"/>
            <p:cNvSpPr/>
            <p:nvPr/>
          </p:nvSpPr>
          <p:spPr>
            <a:xfrm>
              <a:off x="1709144" y="1483530"/>
              <a:ext cx="9520356" cy="4085546"/>
            </a:xfrm>
            <a:prstGeom prst="roundRect">
              <a:avLst>
                <a:gd name="adj" fmla="val 7716"/>
              </a:avLst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Calidad e integración: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se validó y preparó 1 millón de transacciones (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2020-2024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) y se construyó un modelo estrella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para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relacionar la información temporal, geográfica y transaccional.</a:t>
              </a:r>
              <a:endPara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  <a:p>
              <a:pPr algn="just">
                <a:lnSpc>
                  <a:spcPct val="120000"/>
                </a:lnSpc>
              </a:pPr>
              <a:r>
                <a:rPr lang="es-MX" sz="1300" b="1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Distribución </a:t>
              </a: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del negocio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: </a:t>
              </a:r>
              <a:endPara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  <a:p>
              <a:pPr marL="285750" indent="-285750" algn="just">
                <a:lnSpc>
                  <a:spcPct val="120000"/>
                </a:lnSpc>
                <a:buFontTx/>
                <a:buChar char="-"/>
              </a:pP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Las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tarjetas de crédito y débito concentran más del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60%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 las operaciones.</a:t>
              </a:r>
            </a:p>
            <a:p>
              <a:pPr marL="285750" indent="-285750" algn="just">
                <a:lnSpc>
                  <a:spcPct val="120000"/>
                </a:lnSpc>
                <a:buFontTx/>
                <a:buChar char="-"/>
              </a:pP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Electrónica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, viajes y joyería concentran el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63%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del importe total (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21%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cada una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).</a:t>
              </a:r>
            </a:p>
            <a:p>
              <a:pPr marL="285750" indent="-285750" algn="just">
                <a:lnSpc>
                  <a:spcPct val="120000"/>
                </a:lnSpc>
                <a:buFontTx/>
                <a:buChar char="-"/>
              </a:pP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Los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dispositivos móviles representan el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44%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 las operaciones y el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45%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del importe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.</a:t>
              </a:r>
            </a:p>
            <a:p>
              <a:pPr algn="just">
                <a:lnSpc>
                  <a:spcPct val="120000"/>
                </a:lnSpc>
              </a:pP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Comparación de las etiquetas de fraude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: </a:t>
              </a:r>
              <a:endPara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  <a:p>
              <a:pPr algn="just">
                <a:lnSpc>
                  <a:spcPct val="120000"/>
                </a:lnSpc>
              </a:pP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-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Las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operaciones etiquetadas como fraude representan cerca del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5%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 las transacciones y el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6%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del importe.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Esto muestra la importancia de analizar tanto la cantidad como el valor de las operaciones.</a:t>
              </a:r>
            </a:p>
            <a:p>
              <a:pPr algn="just">
                <a:lnSpc>
                  <a:spcPct val="120000"/>
                </a:lnSpc>
              </a:pPr>
              <a:r>
                <a:rPr lang="es-MX" sz="1300" b="1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Comparación de las etiquetas de fraude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: </a:t>
              </a:r>
              <a:endParaRPr lang="es-MX" sz="1300" dirty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  <a:p>
              <a:pPr marL="285750" indent="-285750" algn="just">
                <a:lnSpc>
                  <a:spcPct val="120000"/>
                </a:lnSpc>
                <a:buFontTx/>
                <a:buChar char="-"/>
              </a:pP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Joyería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registra el mayor importe asociado a operaciones etiquetadas como fraude (4,04 millones) y una tasa del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8,70%. </a:t>
              </a:r>
              <a:endPara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  <a:p>
              <a:pPr marL="285750" indent="-285750" algn="just">
                <a:lnSpc>
                  <a:spcPct val="120000"/>
                </a:lnSpc>
                <a:buFontTx/>
                <a:buChar char="-"/>
              </a:pP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ATM </a:t>
              </a:r>
              <a:r>
                <a:rPr lang="es-MX" sz="1300" dirty="0" err="1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withdrawal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 presenta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la tasa más alta (8,74 %), pero un importe asociado a fraude mucho menor (521 mil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). </a:t>
              </a:r>
            </a:p>
            <a:p>
              <a:pPr marL="285750" indent="-285750" algn="just">
                <a:lnSpc>
                  <a:spcPct val="120000"/>
                </a:lnSpc>
                <a:buFontTx/>
                <a:buChar char="-"/>
              </a:pP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Las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tasas por combinación oscilan entre 4,78 % y 6 %; </a:t>
              </a:r>
              <a:r>
                <a:rPr lang="es-MX" sz="1300" dirty="0" err="1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crypto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 en ATM presenta la más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alta.</a:t>
              </a:r>
            </a:p>
            <a:p>
              <a:pPr algn="just">
                <a:lnSpc>
                  <a:spcPct val="120000"/>
                </a:lnSpc>
              </a:pPr>
              <a:r>
                <a:rPr lang="es-MX" sz="1300" b="1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Señales </a:t>
              </a:r>
              <a:r>
                <a:rPr lang="es-MX" sz="1300" b="1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de comportamiento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: </a:t>
              </a:r>
              <a:endPara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  <a:p>
              <a:pPr marL="285750" indent="-285750" algn="just">
                <a:lnSpc>
                  <a:spcPct val="120000"/>
                </a:lnSpc>
                <a:buFontTx/>
                <a:buChar char="-"/>
              </a:pP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L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as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operaciones nocturnas presentan una tasa del 8 %, frente al 4 % del resto del día. </a:t>
              </a:r>
              <a:endParaRPr lang="es-MX" sz="1300" dirty="0" smtClean="0">
                <a:solidFill>
                  <a:schemeClr val="bg2">
                    <a:lumMod val="25000"/>
                  </a:schemeClr>
                </a:solidFill>
                <a:latin typeface="Source Sans Pro"/>
                <a:ea typeface="Source Sans Pro"/>
                <a:cs typeface="Source Sans Pro"/>
              </a:endParaRPr>
            </a:p>
            <a:p>
              <a:pPr marL="285750" indent="-285750" algn="just">
                <a:lnSpc>
                  <a:spcPct val="120000"/>
                </a:lnSpc>
                <a:buFontTx/>
                <a:buChar char="-"/>
              </a:pP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En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operaciones con cambios recientes de PIN, la tasa es del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8%,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frente al </a:t>
              </a:r>
              <a:r>
                <a:rPr lang="es-MX" sz="1300" dirty="0" smtClean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5% </a:t>
              </a:r>
              <a:r>
                <a:rPr lang="es-MX" sz="1300" dirty="0">
                  <a:solidFill>
                    <a:schemeClr val="bg2">
                      <a:lumMod val="25000"/>
                    </a:schemeClr>
                  </a:solidFill>
                  <a:latin typeface="Source Sans Pro"/>
                  <a:ea typeface="Source Sans Pro"/>
                  <a:cs typeface="Source Sans Pro"/>
                </a:rPr>
                <a:t>en las demás.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538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778" b="90000" l="6931" r="92574">
                        <a14:foregroundMark x1="36139" y1="35556" x2="36139" y2="35556"/>
                        <a14:foregroundMark x1="37129" y1="27778" x2="37129" y2="27778"/>
                        <a14:foregroundMark x1="42574" y1="26667" x2="42574" y2="26667"/>
                        <a14:foregroundMark x1="43564" y1="35556" x2="43564" y2="35556"/>
                        <a14:foregroundMark x1="44554" y1="43333" x2="44554" y2="43333"/>
                        <a14:foregroundMark x1="39604" y1="50000" x2="39604" y2="50000"/>
                        <a14:foregroundMark x1="50495" y1="46667" x2="50495" y2="46667"/>
                        <a14:foregroundMark x1="48020" y1="26667" x2="48020" y2="26667"/>
                        <a14:foregroundMark x1="48515" y1="36667" x2="49505" y2="36667"/>
                        <a14:foregroundMark x1="54455" y1="48889" x2="54455" y2="48889"/>
                        <a14:foregroundMark x1="59901" y1="43333" x2="59901" y2="43333"/>
                        <a14:foregroundMark x1="67822" y1="36667" x2="67822" y2="36667"/>
                        <a14:foregroundMark x1="58911" y1="30000" x2="58911" y2="30000"/>
                        <a14:foregroundMark x1="66337" y1="48889" x2="66337" y2="48889"/>
                        <a14:foregroundMark x1="73267" y1="30000" x2="73267" y2="30000"/>
                        <a14:foregroundMark x1="79208" y1="25556" x2="79208" y2="25556"/>
                        <a14:foregroundMark x1="78713" y1="42222" x2="78713" y2="42222"/>
                        <a14:foregroundMark x1="79703" y1="35556" x2="79703" y2="35556"/>
                        <a14:foregroundMark x1="79703" y1="45556" x2="79703" y2="45556"/>
                        <a14:foregroundMark x1="72772" y1="44444" x2="72772" y2="44444"/>
                        <a14:foregroundMark x1="50495" y1="46667" x2="50495" y2="46667"/>
                        <a14:foregroundMark x1="50495" y1="45556" x2="50495" y2="45556"/>
                        <a14:foregroundMark x1="50990" y1="46667" x2="50990" y2="46667"/>
                        <a14:foregroundMark x1="35644" y1="61111" x2="35644" y2="61111"/>
                        <a14:foregroundMark x1="36139" y1="65556" x2="36139" y2="65556"/>
                        <a14:foregroundMark x1="40594" y1="64444" x2="40594" y2="64444"/>
                        <a14:foregroundMark x1="46040" y1="62222" x2="46040" y2="62222"/>
                        <a14:foregroundMark x1="48515" y1="61111" x2="48515" y2="61111"/>
                        <a14:foregroundMark x1="51485" y1="61111" x2="51485" y2="61111"/>
                        <a14:foregroundMark x1="53465" y1="64444" x2="53465" y2="64444"/>
                        <a14:foregroundMark x1="52970" y1="58889" x2="52970" y2="58889"/>
                        <a14:foregroundMark x1="56436" y1="64444" x2="56436" y2="64444"/>
                        <a14:foregroundMark x1="58911" y1="63333" x2="58911" y2="63333"/>
                        <a14:foregroundMark x1="56436" y1="58889" x2="56436" y2="58889"/>
                        <a14:foregroundMark x1="61881" y1="61111" x2="61881" y2="61111"/>
                        <a14:foregroundMark x1="63366" y1="64444" x2="63366" y2="64444"/>
                        <a14:foregroundMark x1="66832" y1="61111" x2="66832" y2="61111"/>
                        <a14:foregroundMark x1="71287" y1="62222" x2="71287" y2="62222"/>
                        <a14:foregroundMark x1="74257" y1="61111" x2="74257" y2="61111"/>
                        <a14:foregroundMark x1="76733" y1="63333" x2="76733" y2="63333"/>
                        <a14:foregroundMark x1="80198" y1="62222" x2="80198" y2="62222"/>
                        <a14:foregroundMark x1="82178" y1="62222" x2="82178" y2="62222"/>
                        <a14:foregroundMark x1="67327" y1="26667" x2="67327" y2="2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1824" y="5418266"/>
            <a:ext cx="1924050" cy="857250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255744" y="4486808"/>
            <a:ext cx="89304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b="1" dirty="0" smtClean="0"/>
              <a:t>Integrantes</a:t>
            </a:r>
            <a:r>
              <a:rPr lang="es-AR" sz="2000" dirty="0" smtClean="0"/>
              <a:t>: </a:t>
            </a:r>
            <a:r>
              <a:rPr lang="es-AR" sz="2000" dirty="0" err="1" smtClean="0"/>
              <a:t>Frankli</a:t>
            </a:r>
            <a:r>
              <a:rPr lang="es-AR" sz="2000" dirty="0" smtClean="0"/>
              <a:t> </a:t>
            </a:r>
            <a:r>
              <a:rPr lang="es-AR" sz="2000" dirty="0" err="1" smtClean="0"/>
              <a:t>Zeña</a:t>
            </a:r>
            <a:r>
              <a:rPr lang="es-AR" sz="2000" dirty="0" smtClean="0"/>
              <a:t>, </a:t>
            </a:r>
            <a:r>
              <a:rPr lang="es-AR" sz="2000" dirty="0" err="1" smtClean="0"/>
              <a:t>Engelberth</a:t>
            </a:r>
            <a:r>
              <a:rPr lang="es-AR" sz="2000" dirty="0" smtClean="0"/>
              <a:t> Mazariegos, David </a:t>
            </a:r>
            <a:r>
              <a:rPr lang="es-AR" sz="2000" dirty="0" err="1" smtClean="0"/>
              <a:t>Ramirez</a:t>
            </a:r>
            <a:r>
              <a:rPr lang="es-AR" sz="2000" dirty="0" smtClean="0"/>
              <a:t>, Josefina Urquiza</a:t>
            </a:r>
            <a:endParaRPr lang="es-AR" sz="2000" dirty="0"/>
          </a:p>
        </p:txBody>
      </p:sp>
      <p:sp>
        <p:nvSpPr>
          <p:cNvPr id="9" name="Rectángulo 8"/>
          <p:cNvSpPr/>
          <p:nvPr/>
        </p:nvSpPr>
        <p:spPr>
          <a:xfrm>
            <a:off x="2540434" y="2209547"/>
            <a:ext cx="7112332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5000" b="1" dirty="0" err="1" smtClean="0">
                <a:solidFill>
                  <a:srgbClr val="002060"/>
                </a:solidFill>
              </a:rPr>
              <a:t>Muchas</a:t>
            </a:r>
            <a:r>
              <a:rPr lang="pt-BR" sz="5000" b="1" dirty="0" smtClean="0">
                <a:solidFill>
                  <a:srgbClr val="002060"/>
                </a:solidFill>
              </a:rPr>
              <a:t> </a:t>
            </a:r>
            <a:r>
              <a:rPr lang="pt-BR" sz="5000" b="1" dirty="0" err="1" smtClean="0">
                <a:solidFill>
                  <a:srgbClr val="002060"/>
                </a:solidFill>
              </a:rPr>
              <a:t>gracias</a:t>
            </a:r>
            <a:r>
              <a:rPr lang="pt-BR" sz="5000" b="1" dirty="0" smtClean="0">
                <a:solidFill>
                  <a:srgbClr val="002060"/>
                </a:solidFill>
              </a:rPr>
              <a:t>!</a:t>
            </a:r>
            <a:endParaRPr lang="pt-BR" sz="5000" b="1" dirty="0">
              <a:solidFill>
                <a:srgbClr val="002060"/>
              </a:solidFill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-472711" y="94970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pSp>
        <p:nvGrpSpPr>
          <p:cNvPr id="10" name="Grupo 9"/>
          <p:cNvGrpSpPr/>
          <p:nvPr/>
        </p:nvGrpSpPr>
        <p:grpSpPr>
          <a:xfrm>
            <a:off x="0" y="6080852"/>
            <a:ext cx="12193200" cy="772285"/>
            <a:chOff x="0" y="6080852"/>
            <a:chExt cx="12193200" cy="772285"/>
          </a:xfrm>
        </p:grpSpPr>
        <p:grpSp>
          <p:nvGrpSpPr>
            <p:cNvPr id="11" name="Grupo 10"/>
            <p:cNvGrpSpPr/>
            <p:nvPr/>
          </p:nvGrpSpPr>
          <p:grpSpPr>
            <a:xfrm>
              <a:off x="0" y="6135226"/>
              <a:ext cx="12193200" cy="717911"/>
              <a:chOff x="0" y="6135226"/>
              <a:chExt cx="12193200" cy="717911"/>
            </a:xfrm>
          </p:grpSpPr>
          <p:sp>
            <p:nvSpPr>
              <p:cNvPr id="13" name="Rectángulo 12"/>
              <p:cNvSpPr/>
              <p:nvPr/>
            </p:nvSpPr>
            <p:spPr>
              <a:xfrm>
                <a:off x="0" y="6135226"/>
                <a:ext cx="12193200" cy="108000"/>
              </a:xfrm>
              <a:prstGeom prst="rect">
                <a:avLst/>
              </a:prstGeom>
              <a:solidFill>
                <a:srgbClr val="1CDF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14" name="Rectángulo 13"/>
              <p:cNvSpPr/>
              <p:nvPr/>
            </p:nvSpPr>
            <p:spPr>
              <a:xfrm>
                <a:off x="0" y="6221393"/>
                <a:ext cx="12193200" cy="216000"/>
              </a:xfrm>
              <a:prstGeom prst="rect">
                <a:avLst/>
              </a:prstGeom>
              <a:solidFill>
                <a:srgbClr val="00C0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15" name="Rectángulo 14"/>
              <p:cNvSpPr/>
              <p:nvPr/>
            </p:nvSpPr>
            <p:spPr>
              <a:xfrm>
                <a:off x="0" y="6421137"/>
                <a:ext cx="12193200" cy="432000"/>
              </a:xfrm>
              <a:prstGeom prst="rect">
                <a:avLst/>
              </a:prstGeom>
              <a:solidFill>
                <a:srgbClr val="002060">
                  <a:alpha val="8588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  <p:sp>
          <p:nvSpPr>
            <p:cNvPr id="12" name="Rectángulo 11"/>
            <p:cNvSpPr/>
            <p:nvPr/>
          </p:nvSpPr>
          <p:spPr>
            <a:xfrm>
              <a:off x="0" y="6080852"/>
              <a:ext cx="12193200" cy="54000"/>
            </a:xfrm>
            <a:prstGeom prst="rect">
              <a:avLst/>
            </a:prstGeom>
            <a:solidFill>
              <a:srgbClr val="AEF8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31043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1153</TotalTime>
  <Words>3199</Words>
  <Application>Microsoft Office PowerPoint</Application>
  <PresentationFormat>Panorámica</PresentationFormat>
  <Paragraphs>237</Paragraphs>
  <Slides>24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Cascadia Mono</vt:lpstr>
      <vt:lpstr>Dosis</vt:lpstr>
      <vt:lpstr>PT Serif</vt:lpstr>
      <vt:lpstr>Source Sans Pro</vt:lpstr>
      <vt:lpstr>Wingdings</vt:lpstr>
      <vt:lpstr>Tema de Office</vt:lpstr>
      <vt:lpstr>Presentación de PowerPoint</vt:lpstr>
      <vt:lpstr>Presentación de PowerPoint</vt:lpstr>
      <vt:lpstr>Desarrollo del proyecto</vt:lpstr>
      <vt:lpstr>Desarrollo del proyecto</vt:lpstr>
      <vt:lpstr>Presentación de PowerPoint</vt:lpstr>
      <vt:lpstr>Desarrollo del proyecto</vt:lpstr>
      <vt:lpstr>2. Selección de la fuente de datos</vt:lpstr>
      <vt:lpstr>2.1 Obtención y carga de los datos</vt:lpstr>
      <vt:lpstr>2.1 Obtención y carga de los datos</vt:lpstr>
      <vt:lpstr>Desarrollo del proyecto</vt:lpstr>
      <vt:lpstr>Presentación de PowerPoint</vt:lpstr>
      <vt:lpstr>Presentación de PowerPoint</vt:lpstr>
      <vt:lpstr>Presentación de PowerPoint</vt:lpstr>
      <vt:lpstr>Desarrollo del proyecto</vt:lpstr>
      <vt:lpstr>Presentación de PowerPoint</vt:lpstr>
      <vt:lpstr>Presentación de PowerPoint</vt:lpstr>
      <vt:lpstr>Presentación de PowerPoint</vt:lpstr>
      <vt:lpstr>Desarrollo del proyecto</vt:lpstr>
      <vt:lpstr>Presentación de PowerPoint</vt:lpstr>
      <vt:lpstr>Desarrollo del proyecto</vt:lpstr>
      <vt:lpstr>Presentación de PowerPoint</vt:lpstr>
      <vt:lpstr>Desarrollo del proyecto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Josefina Urquiza</dc:creator>
  <cp:lastModifiedBy>Josefina Urquiza</cp:lastModifiedBy>
  <cp:revision>62</cp:revision>
  <dcterms:created xsi:type="dcterms:W3CDTF">2026-10-26T15:02:51Z</dcterms:created>
  <dcterms:modified xsi:type="dcterms:W3CDTF">2026-10-29T15:32:55Z</dcterms:modified>
</cp:coreProperties>
</file>